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170" dirty="0"/>
              <a:t>@SIH</a:t>
            </a:r>
            <a:r>
              <a:rPr spc="35" dirty="0"/>
              <a:t> </a:t>
            </a:r>
            <a:r>
              <a:rPr spc="95" dirty="0"/>
              <a:t>Idea</a:t>
            </a:r>
            <a:r>
              <a:rPr spc="55" dirty="0"/>
              <a:t> </a:t>
            </a:r>
            <a:r>
              <a:rPr spc="100" dirty="0"/>
              <a:t>submission-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170" dirty="0"/>
              <a:t>@SIH</a:t>
            </a:r>
            <a:r>
              <a:rPr spc="35" dirty="0"/>
              <a:t> </a:t>
            </a:r>
            <a:r>
              <a:rPr spc="95" dirty="0"/>
              <a:t>Idea</a:t>
            </a:r>
            <a:r>
              <a:rPr spc="55" dirty="0"/>
              <a:t> </a:t>
            </a:r>
            <a:r>
              <a:rPr spc="100" dirty="0"/>
              <a:t>submission-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170" dirty="0"/>
              <a:t>@SIH</a:t>
            </a:r>
            <a:r>
              <a:rPr spc="35" dirty="0"/>
              <a:t> </a:t>
            </a:r>
            <a:r>
              <a:rPr spc="95" dirty="0"/>
              <a:t>Idea</a:t>
            </a:r>
            <a:r>
              <a:rPr spc="55" dirty="0"/>
              <a:t> </a:t>
            </a:r>
            <a:r>
              <a:rPr spc="100" dirty="0"/>
              <a:t>submission-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170" dirty="0"/>
              <a:t>@SIH</a:t>
            </a:r>
            <a:r>
              <a:rPr spc="35" dirty="0"/>
              <a:t> </a:t>
            </a:r>
            <a:r>
              <a:rPr spc="95" dirty="0"/>
              <a:t>Idea</a:t>
            </a:r>
            <a:r>
              <a:rPr spc="55" dirty="0"/>
              <a:t> </a:t>
            </a:r>
            <a:r>
              <a:rPr spc="100" dirty="0"/>
              <a:t>submission-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170" dirty="0"/>
              <a:t>@SIH</a:t>
            </a:r>
            <a:r>
              <a:rPr spc="35" dirty="0"/>
              <a:t> </a:t>
            </a:r>
            <a:r>
              <a:rPr spc="95" dirty="0"/>
              <a:t>Idea</a:t>
            </a:r>
            <a:r>
              <a:rPr spc="55" dirty="0"/>
              <a:t> </a:t>
            </a:r>
            <a:r>
              <a:rPr spc="100" dirty="0"/>
              <a:t>submission-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72859"/>
            <a:ext cx="12188825" cy="48005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-635" y="6355079"/>
            <a:ext cx="12193905" cy="503555"/>
          </a:xfrm>
          <a:custGeom>
            <a:avLst/>
            <a:gdLst/>
            <a:ahLst/>
            <a:cxnLst/>
            <a:rect l="l" t="t" r="r" b="b"/>
            <a:pathLst>
              <a:path w="12193905" h="503554">
                <a:moveTo>
                  <a:pt x="12193905" y="0"/>
                </a:moveTo>
                <a:lnTo>
                  <a:pt x="0" y="0"/>
                </a:lnTo>
                <a:lnTo>
                  <a:pt x="0" y="503555"/>
                </a:lnTo>
                <a:lnTo>
                  <a:pt x="12193905" y="503555"/>
                </a:lnTo>
                <a:lnTo>
                  <a:pt x="12193905" y="0"/>
                </a:lnTo>
                <a:close/>
              </a:path>
            </a:pathLst>
          </a:custGeom>
          <a:solidFill>
            <a:srgbClr val="006E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68119" y="153670"/>
            <a:ext cx="8133080" cy="6921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9609" y="1497329"/>
            <a:ext cx="11007090" cy="417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124450" y="6449383"/>
            <a:ext cx="1776095" cy="195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170" dirty="0"/>
              <a:t>@SIH</a:t>
            </a:r>
            <a:r>
              <a:rPr spc="35" dirty="0"/>
              <a:t> </a:t>
            </a:r>
            <a:r>
              <a:rPr spc="95" dirty="0"/>
              <a:t>Idea</a:t>
            </a:r>
            <a:r>
              <a:rPr spc="55" dirty="0"/>
              <a:t> </a:t>
            </a:r>
            <a:r>
              <a:rPr spc="100" dirty="0"/>
              <a:t>submission-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75390" y="6454004"/>
            <a:ext cx="174625" cy="188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37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goto?url=CAESpQEB6zswFYgiEPHv-Y8eoZeitkG0d_5caStiPi1FcSCsw_aYsMt1hzl1Er57O6_4qTfUP-Bm9h4s6imqlQj8PgRQQc1kXbDwjhdhTVHEG8W9qTU1x9uCjPWL-aXdig3ShnAnUDs4dIZ8jSJAIJHPvRae5P_mERttxuL17Sfp7xb5aK7FHXlwPZTLvUC_W_-ba5A8UeDWS1eYByZJGBf8IAeNlWe7itM" TargetMode="External"/><Relationship Id="rId2" Type="http://schemas.openxmlformats.org/officeDocument/2006/relationships/hyperlink" Target="https://www.google.com/goto?url=CAEScwHrOzAVuaqnspc_oCt5pUBT4k7x0U_AP99vg0K8zyIA2rqzBioCF1E3Bj_mA-sVaU8EIlCuUSQelUZz46VO_Gr574KgOVuEQBJ34pEFJGgq_B0JOdZY04JgtsKNhuIIRzC71rZcqPTQLRAyFNAKW6vI32c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www.google.com/goto?url=CAESYQHrOzAVFZBKAIdMEgzcZj7OssO7w39dg5uCh0AfWvPAj2EMevRVj1UC7-KARuVpGdGdpyIPRM1SkMCphauXTEYvfFfGWomfNIcaqki96nfP3jePOAg1ZHv7myPnwztgRzA" TargetMode="External"/><Relationship Id="rId4" Type="http://schemas.openxmlformats.org/officeDocument/2006/relationships/hyperlink" Target="https://www.google.com/goto?url=CAESXwHrOzAVWCQ9tZEyewdw9sEo0_aZWUzeGwmgn4Oug2bUxgL9CuZWH2aCXXpNm0lUslWfzD6InC9uqVUCfMcAzMn2gDz0hJ8fL1IDn38IKy_EAfKGdQBU18IgaPxrh0L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654675" y="1049654"/>
            <a:ext cx="4640580" cy="5157470"/>
            <a:chOff x="5654675" y="1049654"/>
            <a:chExt cx="4640580" cy="5157470"/>
          </a:xfrm>
        </p:grpSpPr>
        <p:sp>
          <p:nvSpPr>
            <p:cNvPr id="3" name="object 3"/>
            <p:cNvSpPr/>
            <p:nvPr/>
          </p:nvSpPr>
          <p:spPr>
            <a:xfrm>
              <a:off x="5654675" y="1049654"/>
              <a:ext cx="4640580" cy="5157470"/>
            </a:xfrm>
            <a:custGeom>
              <a:avLst/>
              <a:gdLst/>
              <a:ahLst/>
              <a:cxnLst/>
              <a:rect l="l" t="t" r="r" b="b"/>
              <a:pathLst>
                <a:path w="4640580" h="5157470">
                  <a:moveTo>
                    <a:pt x="946150" y="3684270"/>
                  </a:moveTo>
                  <a:lnTo>
                    <a:pt x="943597" y="3660140"/>
                  </a:lnTo>
                  <a:lnTo>
                    <a:pt x="735330" y="3175000"/>
                  </a:lnTo>
                  <a:lnTo>
                    <a:pt x="709295" y="3139440"/>
                  </a:lnTo>
                  <a:lnTo>
                    <a:pt x="673735" y="3126740"/>
                  </a:lnTo>
                  <a:lnTo>
                    <a:pt x="272415" y="3126740"/>
                  </a:lnTo>
                  <a:lnTo>
                    <a:pt x="253365" y="3129915"/>
                  </a:lnTo>
                  <a:lnTo>
                    <a:pt x="221615" y="3154680"/>
                  </a:lnTo>
                  <a:lnTo>
                    <a:pt x="9525" y="3637280"/>
                  </a:lnTo>
                  <a:lnTo>
                    <a:pt x="0" y="3684270"/>
                  </a:lnTo>
                  <a:lnTo>
                    <a:pt x="1905" y="3708400"/>
                  </a:lnTo>
                  <a:lnTo>
                    <a:pt x="209550" y="4193540"/>
                  </a:lnTo>
                  <a:lnTo>
                    <a:pt x="236220" y="4229100"/>
                  </a:lnTo>
                  <a:lnTo>
                    <a:pt x="272415" y="4241800"/>
                  </a:lnTo>
                  <a:lnTo>
                    <a:pt x="673735" y="4241800"/>
                  </a:lnTo>
                  <a:lnTo>
                    <a:pt x="723900" y="4213860"/>
                  </a:lnTo>
                  <a:lnTo>
                    <a:pt x="936625" y="3731260"/>
                  </a:lnTo>
                  <a:lnTo>
                    <a:pt x="946150" y="3684270"/>
                  </a:lnTo>
                  <a:close/>
                </a:path>
                <a:path w="4640580" h="5157470">
                  <a:moveTo>
                    <a:pt x="2248535" y="953770"/>
                  </a:moveTo>
                  <a:lnTo>
                    <a:pt x="2245360" y="916305"/>
                  </a:lnTo>
                  <a:lnTo>
                    <a:pt x="2233930" y="881380"/>
                  </a:lnTo>
                  <a:lnTo>
                    <a:pt x="2098675" y="570230"/>
                  </a:lnTo>
                  <a:lnTo>
                    <a:pt x="1867535" y="570230"/>
                  </a:lnTo>
                  <a:lnTo>
                    <a:pt x="1822450" y="574675"/>
                  </a:lnTo>
                  <a:lnTo>
                    <a:pt x="1779270" y="588010"/>
                  </a:lnTo>
                  <a:lnTo>
                    <a:pt x="1738630" y="609600"/>
                  </a:lnTo>
                  <a:lnTo>
                    <a:pt x="1700530" y="638810"/>
                  </a:lnTo>
                  <a:lnTo>
                    <a:pt x="1666240" y="675640"/>
                  </a:lnTo>
                  <a:lnTo>
                    <a:pt x="1636395" y="719455"/>
                  </a:lnTo>
                  <a:lnTo>
                    <a:pt x="1610995" y="768985"/>
                  </a:lnTo>
                  <a:lnTo>
                    <a:pt x="1167765" y="1791335"/>
                  </a:lnTo>
                  <a:lnTo>
                    <a:pt x="1187450" y="1802765"/>
                  </a:lnTo>
                  <a:lnTo>
                    <a:pt x="1194435" y="1804670"/>
                  </a:lnTo>
                  <a:lnTo>
                    <a:pt x="1202055" y="1806575"/>
                  </a:lnTo>
                  <a:lnTo>
                    <a:pt x="1216660" y="1807845"/>
                  </a:lnTo>
                  <a:lnTo>
                    <a:pt x="1831340" y="1807845"/>
                  </a:lnTo>
                  <a:lnTo>
                    <a:pt x="1859915" y="1802765"/>
                  </a:lnTo>
                  <a:lnTo>
                    <a:pt x="1908810" y="1764665"/>
                  </a:lnTo>
                  <a:lnTo>
                    <a:pt x="2233930" y="1026160"/>
                  </a:lnTo>
                  <a:lnTo>
                    <a:pt x="2248535" y="953770"/>
                  </a:lnTo>
                  <a:close/>
                </a:path>
                <a:path w="4640580" h="5157470">
                  <a:moveTo>
                    <a:pt x="4640580" y="2863850"/>
                  </a:moveTo>
                  <a:lnTo>
                    <a:pt x="4638040" y="2813050"/>
                  </a:lnTo>
                  <a:lnTo>
                    <a:pt x="4630420" y="2763520"/>
                  </a:lnTo>
                  <a:lnTo>
                    <a:pt x="4617720" y="2715260"/>
                  </a:lnTo>
                  <a:lnTo>
                    <a:pt x="4599940" y="2669540"/>
                  </a:lnTo>
                  <a:lnTo>
                    <a:pt x="4272280" y="1917065"/>
                  </a:lnTo>
                  <a:lnTo>
                    <a:pt x="3772535" y="768985"/>
                  </a:lnTo>
                  <a:lnTo>
                    <a:pt x="3748405" y="719455"/>
                  </a:lnTo>
                  <a:lnTo>
                    <a:pt x="3718560" y="675640"/>
                  </a:lnTo>
                  <a:lnTo>
                    <a:pt x="3684270" y="638810"/>
                  </a:lnTo>
                  <a:lnTo>
                    <a:pt x="3646805" y="609600"/>
                  </a:lnTo>
                  <a:lnTo>
                    <a:pt x="3606165" y="588010"/>
                  </a:lnTo>
                  <a:lnTo>
                    <a:pt x="3563620" y="574675"/>
                  </a:lnTo>
                  <a:lnTo>
                    <a:pt x="3519170" y="570230"/>
                  </a:lnTo>
                  <a:lnTo>
                    <a:pt x="2193290" y="570230"/>
                  </a:lnTo>
                  <a:lnTo>
                    <a:pt x="2324735" y="871855"/>
                  </a:lnTo>
                  <a:lnTo>
                    <a:pt x="2337435" y="911225"/>
                  </a:lnTo>
                  <a:lnTo>
                    <a:pt x="2341245" y="953770"/>
                  </a:lnTo>
                  <a:lnTo>
                    <a:pt x="2337435" y="995680"/>
                  </a:lnTo>
                  <a:lnTo>
                    <a:pt x="2324735" y="1035685"/>
                  </a:lnTo>
                  <a:lnTo>
                    <a:pt x="1977390" y="1833245"/>
                  </a:lnTo>
                  <a:lnTo>
                    <a:pt x="1957705" y="1868170"/>
                  </a:lnTo>
                  <a:lnTo>
                    <a:pt x="1903095" y="1911350"/>
                  </a:lnTo>
                  <a:lnTo>
                    <a:pt x="1870710" y="1917065"/>
                  </a:lnTo>
                  <a:lnTo>
                    <a:pt x="1177290" y="1917065"/>
                  </a:lnTo>
                  <a:lnTo>
                    <a:pt x="1160780" y="1915795"/>
                  </a:lnTo>
                  <a:lnTo>
                    <a:pt x="1152525" y="1913890"/>
                  </a:lnTo>
                  <a:lnTo>
                    <a:pt x="1144905" y="1911350"/>
                  </a:lnTo>
                  <a:lnTo>
                    <a:pt x="1125220" y="1900555"/>
                  </a:lnTo>
                  <a:lnTo>
                    <a:pt x="1143635" y="1857375"/>
                  </a:lnTo>
                  <a:lnTo>
                    <a:pt x="1169035" y="1799590"/>
                  </a:lnTo>
                  <a:lnTo>
                    <a:pt x="1163955" y="1797050"/>
                  </a:lnTo>
                  <a:lnTo>
                    <a:pt x="1132205" y="1758950"/>
                  </a:lnTo>
                  <a:lnTo>
                    <a:pt x="817245" y="1035685"/>
                  </a:lnTo>
                  <a:lnTo>
                    <a:pt x="802005" y="962660"/>
                  </a:lnTo>
                  <a:lnTo>
                    <a:pt x="805815" y="925830"/>
                  </a:lnTo>
                  <a:lnTo>
                    <a:pt x="1123950" y="182880"/>
                  </a:lnTo>
                  <a:lnTo>
                    <a:pt x="1163955" y="128905"/>
                  </a:lnTo>
                  <a:lnTo>
                    <a:pt x="1219835" y="109220"/>
                  </a:lnTo>
                  <a:lnTo>
                    <a:pt x="1834515" y="109220"/>
                  </a:lnTo>
                  <a:lnTo>
                    <a:pt x="1889125" y="128905"/>
                  </a:lnTo>
                  <a:lnTo>
                    <a:pt x="1928495" y="182880"/>
                  </a:lnTo>
                  <a:lnTo>
                    <a:pt x="2092960" y="559435"/>
                  </a:lnTo>
                  <a:lnTo>
                    <a:pt x="2187575" y="559435"/>
                  </a:lnTo>
                  <a:lnTo>
                    <a:pt x="1991360" y="109220"/>
                  </a:lnTo>
                  <a:lnTo>
                    <a:pt x="1960880" y="48260"/>
                  </a:lnTo>
                  <a:lnTo>
                    <a:pt x="1905635" y="5715"/>
                  </a:lnTo>
                  <a:lnTo>
                    <a:pt x="1873885" y="0"/>
                  </a:lnTo>
                  <a:lnTo>
                    <a:pt x="1180465" y="0"/>
                  </a:lnTo>
                  <a:lnTo>
                    <a:pt x="1092200" y="48260"/>
                  </a:lnTo>
                  <a:lnTo>
                    <a:pt x="1072515" y="83185"/>
                  </a:lnTo>
                  <a:lnTo>
                    <a:pt x="726440" y="881380"/>
                  </a:lnTo>
                  <a:lnTo>
                    <a:pt x="713740" y="920750"/>
                  </a:lnTo>
                  <a:lnTo>
                    <a:pt x="709295" y="962660"/>
                  </a:lnTo>
                  <a:lnTo>
                    <a:pt x="713740" y="1005205"/>
                  </a:lnTo>
                  <a:lnTo>
                    <a:pt x="726440" y="1044575"/>
                  </a:lnTo>
                  <a:lnTo>
                    <a:pt x="1072515" y="1842770"/>
                  </a:lnTo>
                  <a:lnTo>
                    <a:pt x="1092200" y="1877695"/>
                  </a:lnTo>
                  <a:lnTo>
                    <a:pt x="1118870" y="1904365"/>
                  </a:lnTo>
                  <a:lnTo>
                    <a:pt x="786765" y="2669540"/>
                  </a:lnTo>
                  <a:lnTo>
                    <a:pt x="769620" y="2715260"/>
                  </a:lnTo>
                  <a:lnTo>
                    <a:pt x="756920" y="2763520"/>
                  </a:lnTo>
                  <a:lnTo>
                    <a:pt x="749300" y="2813050"/>
                  </a:lnTo>
                  <a:lnTo>
                    <a:pt x="746760" y="2863850"/>
                  </a:lnTo>
                  <a:lnTo>
                    <a:pt x="749300" y="2914015"/>
                  </a:lnTo>
                  <a:lnTo>
                    <a:pt x="756920" y="2964180"/>
                  </a:lnTo>
                  <a:lnTo>
                    <a:pt x="769620" y="3012440"/>
                  </a:lnTo>
                  <a:lnTo>
                    <a:pt x="786765" y="3058160"/>
                  </a:lnTo>
                  <a:lnTo>
                    <a:pt x="1610995" y="4958715"/>
                  </a:lnTo>
                  <a:lnTo>
                    <a:pt x="1636395" y="5008245"/>
                  </a:lnTo>
                  <a:lnTo>
                    <a:pt x="1666240" y="5052060"/>
                  </a:lnTo>
                  <a:lnTo>
                    <a:pt x="1700530" y="5088255"/>
                  </a:lnTo>
                  <a:lnTo>
                    <a:pt x="1738630" y="5118100"/>
                  </a:lnTo>
                  <a:lnTo>
                    <a:pt x="1779270" y="5139690"/>
                  </a:lnTo>
                  <a:lnTo>
                    <a:pt x="1822450" y="5153025"/>
                  </a:lnTo>
                  <a:lnTo>
                    <a:pt x="1867535" y="5157470"/>
                  </a:lnTo>
                  <a:lnTo>
                    <a:pt x="3519170" y="5157470"/>
                  </a:lnTo>
                  <a:lnTo>
                    <a:pt x="3563620" y="5153025"/>
                  </a:lnTo>
                  <a:lnTo>
                    <a:pt x="3606165" y="5139690"/>
                  </a:lnTo>
                  <a:lnTo>
                    <a:pt x="3646805" y="5118100"/>
                  </a:lnTo>
                  <a:lnTo>
                    <a:pt x="3684270" y="5088255"/>
                  </a:lnTo>
                  <a:lnTo>
                    <a:pt x="3718560" y="5052060"/>
                  </a:lnTo>
                  <a:lnTo>
                    <a:pt x="3748405" y="5008245"/>
                  </a:lnTo>
                  <a:lnTo>
                    <a:pt x="3772535" y="4958715"/>
                  </a:lnTo>
                  <a:lnTo>
                    <a:pt x="4599940" y="3058160"/>
                  </a:lnTo>
                  <a:lnTo>
                    <a:pt x="4617720" y="3012440"/>
                  </a:lnTo>
                  <a:lnTo>
                    <a:pt x="4630420" y="2964180"/>
                  </a:lnTo>
                  <a:lnTo>
                    <a:pt x="4638040" y="2914015"/>
                  </a:lnTo>
                  <a:lnTo>
                    <a:pt x="4640580" y="2863850"/>
                  </a:lnTo>
                  <a:close/>
                </a:path>
              </a:pathLst>
            </a:custGeom>
            <a:solidFill>
              <a:srgbClr val="7D7D7D">
                <a:alpha val="14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53555" y="1913254"/>
              <a:ext cx="3204210" cy="3429000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>
                <a:solidFill>
                  <a:srgbClr val="1E477B"/>
                </a:solidFill>
              </a:rPr>
              <a:t>SMART</a:t>
            </a:r>
            <a:r>
              <a:rPr sz="4000" spc="-90" dirty="0">
                <a:solidFill>
                  <a:srgbClr val="1E477B"/>
                </a:solidFill>
              </a:rPr>
              <a:t> </a:t>
            </a:r>
            <a:r>
              <a:rPr sz="4000" dirty="0">
                <a:solidFill>
                  <a:srgbClr val="1E477B"/>
                </a:solidFill>
              </a:rPr>
              <a:t>INDIA</a:t>
            </a:r>
            <a:r>
              <a:rPr sz="4000" spc="-95" dirty="0">
                <a:solidFill>
                  <a:srgbClr val="1E477B"/>
                </a:solidFill>
              </a:rPr>
              <a:t> </a:t>
            </a:r>
            <a:r>
              <a:rPr sz="4000" dirty="0">
                <a:solidFill>
                  <a:srgbClr val="1E477B"/>
                </a:solidFill>
              </a:rPr>
              <a:t>HACKATHON</a:t>
            </a:r>
            <a:r>
              <a:rPr sz="4000" spc="-95" dirty="0">
                <a:solidFill>
                  <a:srgbClr val="1E477B"/>
                </a:solidFill>
              </a:rPr>
              <a:t> </a:t>
            </a:r>
            <a:r>
              <a:rPr sz="4000" spc="-20" dirty="0">
                <a:solidFill>
                  <a:srgbClr val="1E477B"/>
                </a:solidFill>
              </a:rPr>
              <a:t>2025</a:t>
            </a:r>
            <a:endParaRPr sz="4000"/>
          </a:p>
        </p:txBody>
      </p:sp>
      <p:sp>
        <p:nvSpPr>
          <p:cNvPr id="7" name="object 7"/>
          <p:cNvSpPr txBox="1"/>
          <p:nvPr/>
        </p:nvSpPr>
        <p:spPr>
          <a:xfrm>
            <a:off x="471169" y="1254759"/>
            <a:ext cx="6287770" cy="4828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latin typeface="Times New Roman"/>
                <a:cs typeface="Times New Roman"/>
              </a:rPr>
              <a:t>TITLE</a:t>
            </a:r>
            <a:r>
              <a:rPr sz="3200" b="1" spc="-114" dirty="0">
                <a:latin typeface="Times New Roman"/>
                <a:cs typeface="Times New Roman"/>
              </a:rPr>
              <a:t> </a:t>
            </a:r>
            <a:r>
              <a:rPr sz="3200" b="1" spc="-20" dirty="0">
                <a:latin typeface="Times New Roman"/>
                <a:cs typeface="Times New Roman"/>
              </a:rPr>
              <a:t>PAGE</a:t>
            </a: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32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Font typeface="Trebuchet MS"/>
              <a:buChar char="•"/>
              <a:tabLst>
                <a:tab pos="355600" algn="l"/>
              </a:tabLst>
            </a:pPr>
            <a:r>
              <a:rPr sz="2400" b="1" dirty="0">
                <a:latin typeface="Arial"/>
                <a:cs typeface="Arial"/>
              </a:rPr>
              <a:t>Problem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Statement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ID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–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SIH26073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4"/>
              </a:spcBef>
              <a:buFont typeface="Trebuchet MS"/>
              <a:buChar char="•"/>
            </a:pPr>
            <a:endParaRPr sz="2400">
              <a:latin typeface="Arial"/>
              <a:cs typeface="Arial"/>
            </a:endParaRPr>
          </a:p>
          <a:p>
            <a:pPr marL="354965" marR="609600" indent="-342900">
              <a:lnSpc>
                <a:spcPct val="92900"/>
              </a:lnSpc>
              <a:buFont typeface="Trebuchet MS"/>
              <a:buChar char="•"/>
              <a:tabLst>
                <a:tab pos="354965" algn="l"/>
              </a:tabLst>
            </a:pPr>
            <a:r>
              <a:rPr sz="2400" b="1" dirty="0">
                <a:latin typeface="Arial"/>
                <a:cs typeface="Arial"/>
              </a:rPr>
              <a:t>Problem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Statement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Title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–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270" dirty="0">
                <a:latin typeface="Trebuchet MS"/>
                <a:cs typeface="Trebuchet MS"/>
              </a:rPr>
              <a:t>Anomaly </a:t>
            </a:r>
            <a:r>
              <a:rPr sz="2400" b="1" spc="240" dirty="0">
                <a:latin typeface="Trebuchet MS"/>
                <a:cs typeface="Trebuchet MS"/>
              </a:rPr>
              <a:t>Detection</a:t>
            </a:r>
            <a:r>
              <a:rPr sz="2400" b="1" spc="140" dirty="0">
                <a:latin typeface="Trebuchet MS"/>
                <a:cs typeface="Trebuchet MS"/>
              </a:rPr>
              <a:t> </a:t>
            </a:r>
            <a:r>
              <a:rPr sz="2400" b="1" spc="190" dirty="0">
                <a:latin typeface="Trebuchet MS"/>
                <a:cs typeface="Trebuchet MS"/>
              </a:rPr>
              <a:t>for</a:t>
            </a:r>
            <a:r>
              <a:rPr sz="2400" b="1" spc="125" dirty="0">
                <a:latin typeface="Trebuchet MS"/>
                <a:cs typeface="Trebuchet MS"/>
              </a:rPr>
              <a:t> </a:t>
            </a:r>
            <a:r>
              <a:rPr sz="2400" b="1" spc="240" dirty="0">
                <a:latin typeface="Trebuchet MS"/>
                <a:cs typeface="Trebuchet MS"/>
              </a:rPr>
              <a:t>Automatic </a:t>
            </a:r>
            <a:r>
              <a:rPr sz="2400" b="1" spc="275" dirty="0">
                <a:latin typeface="Trebuchet MS"/>
                <a:cs typeface="Trebuchet MS"/>
              </a:rPr>
              <a:t>Weather</a:t>
            </a:r>
            <a:r>
              <a:rPr sz="2400" b="1" spc="140" dirty="0">
                <a:latin typeface="Trebuchet MS"/>
                <a:cs typeface="Trebuchet MS"/>
              </a:rPr>
              <a:t> </a:t>
            </a:r>
            <a:r>
              <a:rPr sz="2400" b="1" spc="270" dirty="0">
                <a:latin typeface="Trebuchet MS"/>
                <a:cs typeface="Trebuchet MS"/>
              </a:rPr>
              <a:t>Stations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Trebuchet MS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Font typeface="Trebuchet MS"/>
              <a:buChar char="•"/>
              <a:tabLst>
                <a:tab pos="355600" algn="l"/>
              </a:tabLst>
            </a:pPr>
            <a:r>
              <a:rPr sz="2400" b="1" dirty="0">
                <a:latin typeface="Arial"/>
                <a:cs typeface="Arial"/>
              </a:rPr>
              <a:t>Theme-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Disaster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Management</a:t>
            </a:r>
            <a:endParaRPr sz="2400">
              <a:latin typeface="Arial"/>
              <a:cs typeface="Arial"/>
            </a:endParaRPr>
          </a:p>
          <a:p>
            <a:pPr marL="299720" indent="-287020">
              <a:lnSpc>
                <a:spcPts val="2850"/>
              </a:lnSpc>
              <a:spcBef>
                <a:spcPts val="2039"/>
              </a:spcBef>
              <a:buFont typeface="Trebuchet MS"/>
              <a:buChar char="•"/>
              <a:tabLst>
                <a:tab pos="299720" algn="l"/>
              </a:tabLst>
            </a:pPr>
            <a:r>
              <a:rPr sz="2400" b="1" dirty="0">
                <a:latin typeface="Arial"/>
                <a:cs typeface="Arial"/>
              </a:rPr>
              <a:t>PS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Category-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Software</a:t>
            </a:r>
            <a:endParaRPr sz="2400">
              <a:latin typeface="Arial"/>
              <a:cs typeface="Arial"/>
            </a:endParaRPr>
          </a:p>
          <a:p>
            <a:pPr marL="300990" indent="-288290">
              <a:lnSpc>
                <a:spcPts val="2820"/>
              </a:lnSpc>
              <a:buFont typeface="Trebuchet MS"/>
              <a:buChar char="•"/>
              <a:tabLst>
                <a:tab pos="300990" algn="l"/>
              </a:tabLst>
            </a:pPr>
            <a:r>
              <a:rPr sz="2400" b="1" dirty="0">
                <a:latin typeface="Arial"/>
                <a:cs typeface="Arial"/>
              </a:rPr>
              <a:t>Team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ID-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AIML36</a:t>
            </a:r>
            <a:endParaRPr sz="2400">
              <a:latin typeface="Arial"/>
              <a:cs typeface="Arial"/>
            </a:endParaRPr>
          </a:p>
          <a:p>
            <a:pPr marL="299720" indent="-287020">
              <a:lnSpc>
                <a:spcPts val="2850"/>
              </a:lnSpc>
              <a:buFont typeface="Trebuchet MS"/>
              <a:buChar char="•"/>
              <a:tabLst>
                <a:tab pos="299720" algn="l"/>
              </a:tabLst>
            </a:pPr>
            <a:r>
              <a:rPr sz="2400" b="1" dirty="0">
                <a:latin typeface="Arial"/>
                <a:cs typeface="Arial"/>
              </a:rPr>
              <a:t>Team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Name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-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Future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9D610D-BCDE-3499-1C95-8936DD798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006" y="125412"/>
            <a:ext cx="1899284" cy="10604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42D3475-6A8F-5A19-6905-85D8E8A56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8406" y="277812"/>
            <a:ext cx="1899284" cy="10604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0809" rIns="0" bIns="0" rtlCol="0">
            <a:spAutoFit/>
          </a:bodyPr>
          <a:lstStyle/>
          <a:p>
            <a:pPr marL="30988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AWSense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2079" y="1257300"/>
            <a:ext cx="11737340" cy="4914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indent="-360045">
              <a:lnSpc>
                <a:spcPts val="3835"/>
              </a:lnSpc>
              <a:spcBef>
                <a:spcPts val="100"/>
              </a:spcBef>
              <a:buClr>
                <a:srgbClr val="1E477B"/>
              </a:buClr>
              <a:buSzPct val="93750"/>
              <a:buFont typeface="Segoe UI Symbol"/>
              <a:buChar char="❖"/>
              <a:tabLst>
                <a:tab pos="372745" algn="l"/>
              </a:tabLst>
            </a:pPr>
            <a:r>
              <a:rPr sz="3200" b="1" u="sng" dirty="0">
                <a:solidFill>
                  <a:srgbClr val="1E477B"/>
                </a:solidFill>
                <a:uFill>
                  <a:solidFill>
                    <a:srgbClr val="1E477B"/>
                  </a:solidFill>
                </a:uFill>
                <a:latin typeface="Arial"/>
                <a:cs typeface="Arial"/>
              </a:rPr>
              <a:t>Proposed</a:t>
            </a:r>
            <a:r>
              <a:rPr sz="3200" b="1" u="sng" spc="-35" dirty="0">
                <a:solidFill>
                  <a:srgbClr val="1E477B"/>
                </a:solidFill>
                <a:uFill>
                  <a:solidFill>
                    <a:srgbClr val="1E477B"/>
                  </a:solidFill>
                </a:uFill>
                <a:latin typeface="Arial"/>
                <a:cs typeface="Arial"/>
              </a:rPr>
              <a:t> </a:t>
            </a:r>
            <a:r>
              <a:rPr sz="3200" b="1" u="sng" dirty="0">
                <a:solidFill>
                  <a:srgbClr val="1E477B"/>
                </a:solidFill>
                <a:uFill>
                  <a:solidFill>
                    <a:srgbClr val="1E477B"/>
                  </a:solidFill>
                </a:uFill>
                <a:latin typeface="Arial"/>
                <a:cs typeface="Arial"/>
              </a:rPr>
              <a:t>Solution</a:t>
            </a:r>
            <a:r>
              <a:rPr sz="3200" b="1" u="sng" spc="-25" dirty="0">
                <a:solidFill>
                  <a:srgbClr val="1E477B"/>
                </a:solidFill>
                <a:uFill>
                  <a:solidFill>
                    <a:srgbClr val="1E477B"/>
                  </a:solidFill>
                </a:uFill>
                <a:latin typeface="Arial"/>
                <a:cs typeface="Arial"/>
              </a:rPr>
              <a:t> </a:t>
            </a:r>
            <a:r>
              <a:rPr sz="3200" b="1" u="sng" dirty="0">
                <a:solidFill>
                  <a:srgbClr val="1E477B"/>
                </a:solidFill>
                <a:uFill>
                  <a:solidFill>
                    <a:srgbClr val="1E477B"/>
                  </a:solidFill>
                </a:uFill>
                <a:latin typeface="Arial"/>
                <a:cs typeface="Arial"/>
              </a:rPr>
              <a:t>(Describe</a:t>
            </a:r>
            <a:r>
              <a:rPr sz="3200" b="1" u="sng" spc="-30" dirty="0">
                <a:solidFill>
                  <a:srgbClr val="1E477B"/>
                </a:solidFill>
                <a:uFill>
                  <a:solidFill>
                    <a:srgbClr val="1E477B"/>
                  </a:solidFill>
                </a:uFill>
                <a:latin typeface="Arial"/>
                <a:cs typeface="Arial"/>
              </a:rPr>
              <a:t> </a:t>
            </a:r>
            <a:r>
              <a:rPr sz="3200" b="1" u="sng" dirty="0">
                <a:solidFill>
                  <a:srgbClr val="1E477B"/>
                </a:solidFill>
                <a:uFill>
                  <a:solidFill>
                    <a:srgbClr val="1E477B"/>
                  </a:solidFill>
                </a:uFill>
                <a:latin typeface="Arial"/>
                <a:cs typeface="Arial"/>
              </a:rPr>
              <a:t>your</a:t>
            </a:r>
            <a:r>
              <a:rPr sz="3200" b="1" u="sng" spc="-25" dirty="0">
                <a:solidFill>
                  <a:srgbClr val="1E477B"/>
                </a:solidFill>
                <a:uFill>
                  <a:solidFill>
                    <a:srgbClr val="1E477B"/>
                  </a:solidFill>
                </a:uFill>
                <a:latin typeface="Arial"/>
                <a:cs typeface="Arial"/>
              </a:rPr>
              <a:t> </a:t>
            </a:r>
            <a:r>
              <a:rPr sz="3200" b="1" u="sng" spc="-10" dirty="0">
                <a:solidFill>
                  <a:srgbClr val="1E477B"/>
                </a:solidFill>
                <a:uFill>
                  <a:solidFill>
                    <a:srgbClr val="1E477B"/>
                  </a:solidFill>
                </a:uFill>
                <a:latin typeface="Arial"/>
                <a:cs typeface="Arial"/>
              </a:rPr>
              <a:t>Idea/Solution/Prototype)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ts val="2875"/>
              </a:lnSpc>
            </a:pPr>
            <a:r>
              <a:rPr sz="2400" b="1" spc="220" dirty="0">
                <a:latin typeface="Trebuchet MS"/>
                <a:cs typeface="Trebuchet MS"/>
              </a:rPr>
              <a:t>The</a:t>
            </a:r>
            <a:r>
              <a:rPr sz="2400" b="1" spc="125" dirty="0">
                <a:latin typeface="Trebuchet MS"/>
                <a:cs typeface="Trebuchet MS"/>
              </a:rPr>
              <a:t> </a:t>
            </a:r>
            <a:r>
              <a:rPr sz="2400" b="1" spc="245" dirty="0">
                <a:latin typeface="Trebuchet MS"/>
                <a:cs typeface="Trebuchet MS"/>
              </a:rPr>
              <a:t>Problem</a:t>
            </a:r>
            <a:endParaRPr sz="2400">
              <a:latin typeface="Trebuchet MS"/>
              <a:cs typeface="Trebuchet MS"/>
            </a:endParaRPr>
          </a:p>
          <a:p>
            <a:pPr marL="355600" marR="557530" indent="-342900">
              <a:lnSpc>
                <a:spcPct val="100000"/>
              </a:lnSpc>
              <a:spcBef>
                <a:spcPts val="10"/>
              </a:spcBef>
              <a:buChar char="•"/>
              <a:tabLst>
                <a:tab pos="355600" algn="l"/>
              </a:tabLst>
            </a:pPr>
            <a:r>
              <a:rPr sz="2400" spc="125" dirty="0">
                <a:latin typeface="Trebuchet MS"/>
                <a:cs typeface="Trebuchet MS"/>
              </a:rPr>
              <a:t>Automatic</a:t>
            </a:r>
            <a:r>
              <a:rPr sz="2400" spc="75" dirty="0">
                <a:latin typeface="Trebuchet MS"/>
                <a:cs typeface="Trebuchet MS"/>
              </a:rPr>
              <a:t> </a:t>
            </a:r>
            <a:r>
              <a:rPr sz="2400" spc="145" dirty="0">
                <a:latin typeface="Trebuchet MS"/>
                <a:cs typeface="Trebuchet MS"/>
              </a:rPr>
              <a:t>Weather</a:t>
            </a:r>
            <a:r>
              <a:rPr sz="2400" spc="70" dirty="0">
                <a:latin typeface="Trebuchet MS"/>
                <a:cs typeface="Trebuchet MS"/>
              </a:rPr>
              <a:t> </a:t>
            </a:r>
            <a:r>
              <a:rPr sz="2400" spc="140" dirty="0">
                <a:latin typeface="Trebuchet MS"/>
                <a:cs typeface="Trebuchet MS"/>
              </a:rPr>
              <a:t>Stations</a:t>
            </a:r>
            <a:r>
              <a:rPr sz="2400" spc="75" dirty="0">
                <a:latin typeface="Trebuchet MS"/>
                <a:cs typeface="Trebuchet MS"/>
              </a:rPr>
              <a:t> </a:t>
            </a:r>
            <a:r>
              <a:rPr sz="2400" spc="190" dirty="0">
                <a:latin typeface="Trebuchet MS"/>
                <a:cs typeface="Trebuchet MS"/>
              </a:rPr>
              <a:t>measure</a:t>
            </a:r>
            <a:r>
              <a:rPr sz="2400" spc="65" dirty="0">
                <a:latin typeface="Trebuchet MS"/>
                <a:cs typeface="Trebuchet MS"/>
              </a:rPr>
              <a:t> </a:t>
            </a:r>
            <a:r>
              <a:rPr sz="2400" spc="105" dirty="0">
                <a:latin typeface="Trebuchet MS"/>
                <a:cs typeface="Trebuchet MS"/>
              </a:rPr>
              <a:t>temperature,</a:t>
            </a:r>
            <a:r>
              <a:rPr sz="2400" spc="70" dirty="0">
                <a:latin typeface="Trebuchet MS"/>
                <a:cs typeface="Trebuchet MS"/>
              </a:rPr>
              <a:t> </a:t>
            </a:r>
            <a:r>
              <a:rPr sz="2400" spc="130" dirty="0">
                <a:latin typeface="Trebuchet MS"/>
                <a:cs typeface="Trebuchet MS"/>
              </a:rPr>
              <a:t>pressure,</a:t>
            </a:r>
            <a:r>
              <a:rPr sz="2400" spc="70" dirty="0">
                <a:latin typeface="Trebuchet MS"/>
                <a:cs typeface="Trebuchet MS"/>
              </a:rPr>
              <a:t> </a:t>
            </a:r>
            <a:r>
              <a:rPr sz="2400" spc="114" dirty="0">
                <a:latin typeface="Trebuchet MS"/>
                <a:cs typeface="Trebuchet MS"/>
              </a:rPr>
              <a:t>humidity </a:t>
            </a:r>
            <a:r>
              <a:rPr sz="2400" spc="95" dirty="0">
                <a:latin typeface="Trebuchet MS"/>
                <a:cs typeface="Trebuchet MS"/>
              </a:rPr>
              <a:t>continuously.</a:t>
            </a: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195" dirty="0">
                <a:latin typeface="Trebuchet MS"/>
                <a:cs typeface="Trebuchet MS"/>
              </a:rPr>
              <a:t>Sensor</a:t>
            </a:r>
            <a:r>
              <a:rPr sz="2400" spc="130" dirty="0">
                <a:latin typeface="Trebuchet MS"/>
                <a:cs typeface="Trebuchet MS"/>
              </a:rPr>
              <a:t> </a:t>
            </a:r>
            <a:r>
              <a:rPr sz="2400" spc="125" dirty="0">
                <a:latin typeface="Trebuchet MS"/>
                <a:cs typeface="Trebuchet MS"/>
              </a:rPr>
              <a:t>malfunctions</a:t>
            </a:r>
            <a:r>
              <a:rPr sz="2400" spc="145" dirty="0">
                <a:latin typeface="Trebuchet MS"/>
                <a:cs typeface="Trebuchet MS"/>
              </a:rPr>
              <a:t> </a:t>
            </a:r>
            <a:r>
              <a:rPr sz="2400" spc="240" dirty="0">
                <a:latin typeface="Trebuchet MS"/>
                <a:cs typeface="Trebuchet MS"/>
              </a:rPr>
              <a:t>go</a:t>
            </a:r>
            <a:r>
              <a:rPr sz="2400" spc="110" dirty="0">
                <a:latin typeface="Trebuchet MS"/>
                <a:cs typeface="Trebuchet MS"/>
              </a:rPr>
              <a:t> </a:t>
            </a:r>
            <a:r>
              <a:rPr sz="2400" spc="100" dirty="0">
                <a:latin typeface="Trebuchet MS"/>
                <a:cs typeface="Trebuchet MS"/>
              </a:rPr>
              <a:t>undetected,</a:t>
            </a:r>
            <a:r>
              <a:rPr sz="2400" spc="135" dirty="0">
                <a:latin typeface="Trebuchet MS"/>
                <a:cs typeface="Trebuchet MS"/>
              </a:rPr>
              <a:t> </a:t>
            </a:r>
            <a:r>
              <a:rPr sz="2400" spc="120" dirty="0">
                <a:latin typeface="Trebuchet MS"/>
                <a:cs typeface="Trebuchet MS"/>
              </a:rPr>
              <a:t>corrupting</a:t>
            </a:r>
            <a:r>
              <a:rPr sz="2400" spc="13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critical</a:t>
            </a:r>
            <a:r>
              <a:rPr sz="2400" spc="135" dirty="0">
                <a:latin typeface="Trebuchet MS"/>
                <a:cs typeface="Trebuchet MS"/>
              </a:rPr>
              <a:t> </a:t>
            </a:r>
            <a:r>
              <a:rPr sz="2400" spc="120" dirty="0">
                <a:latin typeface="Trebuchet MS"/>
                <a:cs typeface="Trebuchet MS"/>
              </a:rPr>
              <a:t>weather </a:t>
            </a:r>
            <a:r>
              <a:rPr sz="2400" spc="65" dirty="0">
                <a:latin typeface="Trebuchet MS"/>
                <a:cs typeface="Trebuchet MS"/>
              </a:rPr>
              <a:t>data.</a:t>
            </a: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130" dirty="0">
                <a:latin typeface="Trebuchet MS"/>
                <a:cs typeface="Trebuchet MS"/>
              </a:rPr>
              <a:t>False</a:t>
            </a:r>
            <a:r>
              <a:rPr sz="2400" spc="70" dirty="0">
                <a:latin typeface="Trebuchet MS"/>
                <a:cs typeface="Trebuchet MS"/>
              </a:rPr>
              <a:t> </a:t>
            </a:r>
            <a:r>
              <a:rPr sz="2400" spc="135" dirty="0">
                <a:latin typeface="Trebuchet MS"/>
                <a:cs typeface="Trebuchet MS"/>
              </a:rPr>
              <a:t>data</a:t>
            </a:r>
            <a:r>
              <a:rPr sz="2400" spc="60" dirty="0">
                <a:latin typeface="Trebuchet MS"/>
                <a:cs typeface="Trebuchet MS"/>
              </a:rPr>
              <a:t> </a:t>
            </a:r>
            <a:r>
              <a:rPr sz="2400" spc="150" dirty="0">
                <a:latin typeface="Trebuchet MS"/>
                <a:cs typeface="Trebuchet MS"/>
              </a:rPr>
              <a:t>leads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spc="75" dirty="0">
                <a:latin typeface="Trebuchet MS"/>
                <a:cs typeface="Trebuchet MS"/>
              </a:rPr>
              <a:t>to</a:t>
            </a:r>
            <a:r>
              <a:rPr sz="2400" spc="50" dirty="0">
                <a:latin typeface="Trebuchet MS"/>
                <a:cs typeface="Trebuchet MS"/>
              </a:rPr>
              <a:t> </a:t>
            </a:r>
            <a:r>
              <a:rPr sz="2400" spc="114" dirty="0">
                <a:latin typeface="Trebuchet MS"/>
                <a:cs typeface="Trebuchet MS"/>
              </a:rPr>
              <a:t>inaccurate</a:t>
            </a:r>
            <a:r>
              <a:rPr sz="2400" spc="75" dirty="0">
                <a:latin typeface="Trebuchet MS"/>
                <a:cs typeface="Trebuchet MS"/>
              </a:rPr>
              <a:t> </a:t>
            </a:r>
            <a:r>
              <a:rPr sz="2400" spc="125" dirty="0">
                <a:latin typeface="Trebuchet MS"/>
                <a:cs typeface="Trebuchet MS"/>
              </a:rPr>
              <a:t>forecasts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spc="190" dirty="0">
                <a:latin typeface="Trebuchet MS"/>
                <a:cs typeface="Trebuchet MS"/>
              </a:rPr>
              <a:t>and</a:t>
            </a:r>
            <a:r>
              <a:rPr sz="2400" spc="60" dirty="0">
                <a:latin typeface="Trebuchet MS"/>
                <a:cs typeface="Trebuchet MS"/>
              </a:rPr>
              <a:t> </a:t>
            </a:r>
            <a:r>
              <a:rPr sz="2400" spc="145" dirty="0">
                <a:latin typeface="Trebuchet MS"/>
                <a:cs typeface="Trebuchet MS"/>
              </a:rPr>
              <a:t>delayed</a:t>
            </a:r>
            <a:r>
              <a:rPr sz="2400" spc="70" dirty="0">
                <a:latin typeface="Trebuchet MS"/>
                <a:cs typeface="Trebuchet MS"/>
              </a:rPr>
              <a:t> </a:t>
            </a:r>
            <a:r>
              <a:rPr sz="2400" spc="125" dirty="0">
                <a:latin typeface="Trebuchet MS"/>
                <a:cs typeface="Trebuchet MS"/>
              </a:rPr>
              <a:t>disaster</a:t>
            </a:r>
            <a:r>
              <a:rPr sz="2400" spc="65" dirty="0">
                <a:latin typeface="Trebuchet MS"/>
                <a:cs typeface="Trebuchet MS"/>
              </a:rPr>
              <a:t> </a:t>
            </a:r>
            <a:r>
              <a:rPr sz="2400" spc="110" dirty="0">
                <a:latin typeface="Trebuchet MS"/>
                <a:cs typeface="Trebuchet MS"/>
              </a:rPr>
              <a:t>warnings.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b="1" spc="254" dirty="0">
                <a:latin typeface="Trebuchet MS"/>
                <a:cs typeface="Trebuchet MS"/>
              </a:rPr>
              <a:t>Our</a:t>
            </a:r>
            <a:r>
              <a:rPr sz="2400" b="1" spc="114" dirty="0">
                <a:latin typeface="Trebuchet MS"/>
                <a:cs typeface="Trebuchet MS"/>
              </a:rPr>
              <a:t> </a:t>
            </a:r>
            <a:r>
              <a:rPr sz="2400" b="1" spc="229" dirty="0">
                <a:latin typeface="Trebuchet MS"/>
                <a:cs typeface="Trebuchet MS"/>
              </a:rPr>
              <a:t>Solution</a:t>
            </a:r>
            <a:endParaRPr sz="2400">
              <a:latin typeface="Trebuchet MS"/>
              <a:cs typeface="Trebuchet MS"/>
            </a:endParaRPr>
          </a:p>
          <a:p>
            <a:pPr marL="355600" marR="1209675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105" dirty="0">
                <a:latin typeface="Trebuchet MS"/>
                <a:cs typeface="Trebuchet MS"/>
              </a:rPr>
              <a:t>Real-time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spc="180" dirty="0">
                <a:latin typeface="Trebuchet MS"/>
                <a:cs typeface="Trebuchet MS"/>
              </a:rPr>
              <a:t>anomaly</a:t>
            </a:r>
            <a:r>
              <a:rPr sz="2400" spc="75" dirty="0">
                <a:latin typeface="Trebuchet MS"/>
                <a:cs typeface="Trebuchet MS"/>
              </a:rPr>
              <a:t> </a:t>
            </a:r>
            <a:r>
              <a:rPr sz="2400" spc="95" dirty="0">
                <a:latin typeface="Trebuchet MS"/>
                <a:cs typeface="Trebuchet MS"/>
              </a:rPr>
              <a:t>detection</a:t>
            </a:r>
            <a:r>
              <a:rPr sz="2400" spc="75" dirty="0">
                <a:latin typeface="Trebuchet MS"/>
                <a:cs typeface="Trebuchet MS"/>
              </a:rPr>
              <a:t> </a:t>
            </a:r>
            <a:r>
              <a:rPr sz="2400" spc="200" dirty="0">
                <a:latin typeface="Trebuchet MS"/>
                <a:cs typeface="Trebuchet MS"/>
              </a:rPr>
              <a:t>system</a:t>
            </a:r>
            <a:r>
              <a:rPr sz="2400" spc="75" dirty="0">
                <a:latin typeface="Trebuchet MS"/>
                <a:cs typeface="Trebuchet MS"/>
              </a:rPr>
              <a:t> </a:t>
            </a:r>
            <a:r>
              <a:rPr sz="2400" spc="85" dirty="0">
                <a:latin typeface="Trebuchet MS"/>
                <a:cs typeface="Trebuchet MS"/>
              </a:rPr>
              <a:t>that</a:t>
            </a:r>
            <a:r>
              <a:rPr sz="2400" spc="60" dirty="0">
                <a:latin typeface="Trebuchet MS"/>
                <a:cs typeface="Trebuchet MS"/>
              </a:rPr>
              <a:t> </a:t>
            </a:r>
            <a:r>
              <a:rPr sz="2400" spc="80" dirty="0">
                <a:latin typeface="Trebuchet MS"/>
                <a:cs typeface="Trebuchet MS"/>
              </a:rPr>
              <a:t>identifies</a:t>
            </a:r>
            <a:r>
              <a:rPr sz="2400" spc="75" dirty="0">
                <a:latin typeface="Trebuchet MS"/>
                <a:cs typeface="Trebuchet MS"/>
              </a:rPr>
              <a:t> </a:t>
            </a:r>
            <a:r>
              <a:rPr sz="2400" spc="180" dirty="0">
                <a:latin typeface="Trebuchet MS"/>
                <a:cs typeface="Trebuchet MS"/>
              </a:rPr>
              <a:t>sensor</a:t>
            </a:r>
            <a:r>
              <a:rPr sz="2400" spc="70" dirty="0">
                <a:latin typeface="Trebuchet MS"/>
                <a:cs typeface="Trebuchet MS"/>
              </a:rPr>
              <a:t> </a:t>
            </a:r>
            <a:r>
              <a:rPr sz="2400" spc="80" dirty="0">
                <a:latin typeface="Trebuchet MS"/>
                <a:cs typeface="Trebuchet MS"/>
              </a:rPr>
              <a:t>failures </a:t>
            </a:r>
            <a:r>
              <a:rPr sz="2400" spc="60" dirty="0">
                <a:latin typeface="Trebuchet MS"/>
                <a:cs typeface="Trebuchet MS"/>
              </a:rPr>
              <a:t>instantly.</a:t>
            </a: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buChar char="•"/>
              <a:tabLst>
                <a:tab pos="355600" algn="l"/>
              </a:tabLst>
            </a:pPr>
            <a:r>
              <a:rPr sz="2400" spc="165" dirty="0">
                <a:latin typeface="Trebuchet MS"/>
                <a:cs typeface="Trebuchet MS"/>
              </a:rPr>
              <a:t>Distinguishes</a:t>
            </a:r>
            <a:r>
              <a:rPr sz="2400" spc="75" dirty="0">
                <a:latin typeface="Trebuchet MS"/>
                <a:cs typeface="Trebuchet MS"/>
              </a:rPr>
              <a:t> </a:t>
            </a:r>
            <a:r>
              <a:rPr sz="2400" spc="165" dirty="0">
                <a:latin typeface="Trebuchet MS"/>
                <a:cs typeface="Trebuchet MS"/>
              </a:rPr>
              <a:t>genuine</a:t>
            </a:r>
            <a:r>
              <a:rPr sz="2400" spc="70" dirty="0">
                <a:latin typeface="Trebuchet MS"/>
                <a:cs typeface="Trebuchet MS"/>
              </a:rPr>
              <a:t> </a:t>
            </a:r>
            <a:r>
              <a:rPr sz="2400" spc="120" dirty="0">
                <a:latin typeface="Trebuchet MS"/>
                <a:cs typeface="Trebuchet MS"/>
              </a:rPr>
              <a:t>weather</a:t>
            </a:r>
            <a:r>
              <a:rPr sz="2400" spc="60" dirty="0">
                <a:latin typeface="Trebuchet MS"/>
                <a:cs typeface="Trebuchet MS"/>
              </a:rPr>
              <a:t> </a:t>
            </a:r>
            <a:r>
              <a:rPr sz="2400" spc="160" dirty="0">
                <a:latin typeface="Trebuchet MS"/>
                <a:cs typeface="Trebuchet MS"/>
              </a:rPr>
              <a:t>events</a:t>
            </a:r>
            <a:r>
              <a:rPr sz="2400" spc="70" dirty="0">
                <a:latin typeface="Trebuchet MS"/>
                <a:cs typeface="Trebuchet MS"/>
              </a:rPr>
              <a:t> </a:t>
            </a:r>
            <a:r>
              <a:rPr sz="2400" spc="125" dirty="0">
                <a:latin typeface="Trebuchet MS"/>
                <a:cs typeface="Trebuchet MS"/>
              </a:rPr>
              <a:t>from</a:t>
            </a:r>
            <a:r>
              <a:rPr sz="2400" spc="55" dirty="0">
                <a:latin typeface="Trebuchet MS"/>
                <a:cs typeface="Trebuchet MS"/>
              </a:rPr>
              <a:t> </a:t>
            </a:r>
            <a:r>
              <a:rPr sz="2400" spc="180" dirty="0">
                <a:latin typeface="Trebuchet MS"/>
                <a:cs typeface="Trebuchet MS"/>
              </a:rPr>
              <a:t>sensor</a:t>
            </a:r>
            <a:r>
              <a:rPr sz="2400" spc="65" dirty="0">
                <a:latin typeface="Trebuchet MS"/>
                <a:cs typeface="Trebuchet MS"/>
              </a:rPr>
              <a:t> </a:t>
            </a:r>
            <a:r>
              <a:rPr sz="2400" spc="85" dirty="0">
                <a:latin typeface="Trebuchet MS"/>
                <a:cs typeface="Trebuchet MS"/>
              </a:rPr>
              <a:t>malfunctions.</a:t>
            </a:r>
            <a:endParaRPr sz="2400">
              <a:latin typeface="Trebuchet MS"/>
              <a:cs typeface="Trebuchet MS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Char char="•"/>
              <a:tabLst>
                <a:tab pos="355600" algn="l"/>
              </a:tabLst>
            </a:pPr>
            <a:r>
              <a:rPr sz="2400" spc="155" dirty="0">
                <a:latin typeface="Trebuchet MS"/>
                <a:cs typeface="Trebuchet MS"/>
              </a:rPr>
              <a:t>Generates</a:t>
            </a:r>
            <a:r>
              <a:rPr sz="2400" spc="65" dirty="0">
                <a:latin typeface="Trebuchet MS"/>
                <a:cs typeface="Trebuchet MS"/>
              </a:rPr>
              <a:t> </a:t>
            </a:r>
            <a:r>
              <a:rPr sz="2400" spc="95" dirty="0">
                <a:latin typeface="Trebuchet MS"/>
                <a:cs typeface="Trebuchet MS"/>
              </a:rPr>
              <a:t>alerts</a:t>
            </a:r>
            <a:r>
              <a:rPr sz="2400" spc="60" dirty="0">
                <a:latin typeface="Trebuchet MS"/>
                <a:cs typeface="Trebuchet MS"/>
              </a:rPr>
              <a:t> </a:t>
            </a:r>
            <a:r>
              <a:rPr sz="2400" spc="75" dirty="0">
                <a:latin typeface="Trebuchet MS"/>
                <a:cs typeface="Trebuchet MS"/>
              </a:rPr>
              <a:t>with</a:t>
            </a:r>
            <a:r>
              <a:rPr sz="2400" spc="65" dirty="0">
                <a:latin typeface="Trebuchet MS"/>
                <a:cs typeface="Trebuchet MS"/>
              </a:rPr>
              <a:t> </a:t>
            </a:r>
            <a:r>
              <a:rPr sz="2400" spc="114" dirty="0">
                <a:latin typeface="Trebuchet MS"/>
                <a:cs typeface="Trebuchet MS"/>
              </a:rPr>
              <a:t>confidence</a:t>
            </a:r>
            <a:r>
              <a:rPr sz="2400" spc="75" dirty="0">
                <a:latin typeface="Trebuchet MS"/>
                <a:cs typeface="Trebuchet MS"/>
              </a:rPr>
              <a:t> </a:t>
            </a:r>
            <a:r>
              <a:rPr sz="2400" spc="170" dirty="0">
                <a:latin typeface="Trebuchet MS"/>
                <a:cs typeface="Trebuchet MS"/>
              </a:rPr>
              <a:t>scores</a:t>
            </a:r>
            <a:r>
              <a:rPr sz="2400" spc="60" dirty="0">
                <a:latin typeface="Trebuchet MS"/>
                <a:cs typeface="Trebuchet MS"/>
              </a:rPr>
              <a:t> </a:t>
            </a:r>
            <a:r>
              <a:rPr sz="2400" spc="190" dirty="0">
                <a:latin typeface="Trebuchet MS"/>
                <a:cs typeface="Trebuchet MS"/>
              </a:rPr>
              <a:t>and</a:t>
            </a:r>
            <a:r>
              <a:rPr sz="2400" spc="60" dirty="0">
                <a:latin typeface="Trebuchet MS"/>
                <a:cs typeface="Trebuchet MS"/>
              </a:rPr>
              <a:t> </a:t>
            </a:r>
            <a:r>
              <a:rPr sz="2400" spc="180" dirty="0">
                <a:latin typeface="Trebuchet MS"/>
                <a:cs typeface="Trebuchet MS"/>
              </a:rPr>
              <a:t>sensor</a:t>
            </a:r>
            <a:r>
              <a:rPr sz="2400" spc="70" dirty="0">
                <a:latin typeface="Trebuchet MS"/>
                <a:cs typeface="Trebuchet MS"/>
              </a:rPr>
              <a:t> </a:t>
            </a:r>
            <a:r>
              <a:rPr sz="2400" spc="110" dirty="0">
                <a:latin typeface="Trebuchet MS"/>
                <a:cs typeface="Trebuchet MS"/>
              </a:rPr>
              <a:t>health</a:t>
            </a:r>
            <a:r>
              <a:rPr sz="2400" spc="70" dirty="0">
                <a:latin typeface="Trebuchet MS"/>
                <a:cs typeface="Trebuchet MS"/>
              </a:rPr>
              <a:t> </a:t>
            </a:r>
            <a:r>
              <a:rPr sz="2400" spc="75" dirty="0">
                <a:latin typeface="Trebuchet MS"/>
                <a:cs typeface="Trebuchet MS"/>
              </a:rPr>
              <a:t>metrics.</a:t>
            </a:r>
            <a:endParaRPr sz="2400">
              <a:latin typeface="Trebuchet MS"/>
              <a:cs typeface="Trebuchet MS"/>
            </a:endParaRPr>
          </a:p>
          <a:p>
            <a:pPr marL="355600" marR="339725" indent="-342900">
              <a:lnSpc>
                <a:spcPct val="101400"/>
              </a:lnSpc>
              <a:buChar char="•"/>
              <a:tabLst>
                <a:tab pos="355600" algn="l"/>
              </a:tabLst>
            </a:pPr>
            <a:r>
              <a:rPr sz="2400" spc="120" dirty="0">
                <a:latin typeface="Trebuchet MS"/>
                <a:cs typeface="Trebuchet MS"/>
              </a:rPr>
              <a:t>Detect</a:t>
            </a:r>
            <a:r>
              <a:rPr sz="2400" spc="70" dirty="0">
                <a:latin typeface="Trebuchet MS"/>
                <a:cs typeface="Trebuchet MS"/>
              </a:rPr>
              <a:t> </a:t>
            </a:r>
            <a:r>
              <a:rPr sz="2400" spc="155" dirty="0">
                <a:latin typeface="Trebuchet MS"/>
                <a:cs typeface="Trebuchet MS"/>
              </a:rPr>
              <a:t>abnormal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spc="180" dirty="0">
                <a:latin typeface="Trebuchet MS"/>
                <a:cs typeface="Trebuchet MS"/>
              </a:rPr>
              <a:t>sensor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spc="145" dirty="0">
                <a:latin typeface="Trebuchet MS"/>
                <a:cs typeface="Trebuchet MS"/>
              </a:rPr>
              <a:t>behaviour</a:t>
            </a:r>
            <a:r>
              <a:rPr sz="2400" spc="80" dirty="0">
                <a:latin typeface="Trebuchet MS"/>
                <a:cs typeface="Trebuchet MS"/>
              </a:rPr>
              <a:t> </a:t>
            </a:r>
            <a:r>
              <a:rPr sz="2400" spc="90" dirty="0">
                <a:latin typeface="Trebuchet MS"/>
                <a:cs typeface="Trebuchet MS"/>
              </a:rPr>
              <a:t>without</a:t>
            </a:r>
            <a:r>
              <a:rPr sz="2400" spc="75" dirty="0">
                <a:latin typeface="Trebuchet MS"/>
                <a:cs typeface="Trebuchet MS"/>
              </a:rPr>
              <a:t> </a:t>
            </a:r>
            <a:r>
              <a:rPr sz="2400" spc="85" dirty="0">
                <a:latin typeface="Trebuchet MS"/>
                <a:cs typeface="Trebuchet MS"/>
              </a:rPr>
              <a:t>incorrectly</a:t>
            </a:r>
            <a:r>
              <a:rPr sz="2400" spc="80" dirty="0">
                <a:latin typeface="Trebuchet MS"/>
                <a:cs typeface="Trebuchet MS"/>
              </a:rPr>
              <a:t> rejecting</a:t>
            </a:r>
            <a:r>
              <a:rPr sz="2400" spc="85" dirty="0">
                <a:latin typeface="Trebuchet MS"/>
                <a:cs typeface="Trebuchet MS"/>
              </a:rPr>
              <a:t> </a:t>
            </a:r>
            <a:r>
              <a:rPr sz="2400" spc="155" dirty="0">
                <a:latin typeface="Trebuchet MS"/>
                <a:cs typeface="Trebuchet MS"/>
              </a:rPr>
              <a:t>genuine </a:t>
            </a:r>
            <a:r>
              <a:rPr sz="2400" spc="120" dirty="0">
                <a:latin typeface="Trebuchet MS"/>
                <a:cs typeface="Trebuchet MS"/>
              </a:rPr>
              <a:t>weather</a:t>
            </a:r>
            <a:r>
              <a:rPr sz="2400" spc="60" dirty="0">
                <a:latin typeface="Trebuchet MS"/>
                <a:cs typeface="Trebuchet MS"/>
              </a:rPr>
              <a:t> </a:t>
            </a:r>
            <a:r>
              <a:rPr sz="2400" spc="100" dirty="0">
                <a:latin typeface="Trebuchet MS"/>
                <a:cs typeface="Trebuchet MS"/>
              </a:rPr>
              <a:t>events.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5750" y="218440"/>
            <a:ext cx="1252855" cy="809625"/>
          </a:xfrm>
          <a:custGeom>
            <a:avLst/>
            <a:gdLst/>
            <a:ahLst/>
            <a:cxnLst/>
            <a:rect l="l" t="t" r="r" b="b"/>
            <a:pathLst>
              <a:path w="1252855" h="809625">
                <a:moveTo>
                  <a:pt x="0" y="404494"/>
                </a:moveTo>
                <a:lnTo>
                  <a:pt x="9525" y="332104"/>
                </a:lnTo>
                <a:lnTo>
                  <a:pt x="38735" y="263524"/>
                </a:lnTo>
                <a:lnTo>
                  <a:pt x="60325" y="231139"/>
                </a:lnTo>
                <a:lnTo>
                  <a:pt x="85089" y="200024"/>
                </a:lnTo>
                <a:lnTo>
                  <a:pt x="114300" y="170814"/>
                </a:lnTo>
                <a:lnTo>
                  <a:pt x="147320" y="143509"/>
                </a:lnTo>
                <a:lnTo>
                  <a:pt x="183515" y="118109"/>
                </a:lnTo>
                <a:lnTo>
                  <a:pt x="222884" y="94614"/>
                </a:lnTo>
                <a:lnTo>
                  <a:pt x="264795" y="73659"/>
                </a:lnTo>
                <a:lnTo>
                  <a:pt x="309880" y="55244"/>
                </a:lnTo>
                <a:lnTo>
                  <a:pt x="357505" y="38734"/>
                </a:lnTo>
                <a:lnTo>
                  <a:pt x="407670" y="24764"/>
                </a:lnTo>
                <a:lnTo>
                  <a:pt x="459740" y="13969"/>
                </a:lnTo>
                <a:lnTo>
                  <a:pt x="513715" y="6350"/>
                </a:lnTo>
                <a:lnTo>
                  <a:pt x="569594" y="1269"/>
                </a:lnTo>
                <a:lnTo>
                  <a:pt x="626110" y="0"/>
                </a:lnTo>
                <a:lnTo>
                  <a:pt x="683260" y="1269"/>
                </a:lnTo>
                <a:lnTo>
                  <a:pt x="739140" y="6350"/>
                </a:lnTo>
                <a:lnTo>
                  <a:pt x="793115" y="13969"/>
                </a:lnTo>
                <a:lnTo>
                  <a:pt x="845185" y="24764"/>
                </a:lnTo>
                <a:lnTo>
                  <a:pt x="894715" y="38734"/>
                </a:lnTo>
                <a:lnTo>
                  <a:pt x="942975" y="55244"/>
                </a:lnTo>
                <a:lnTo>
                  <a:pt x="988060" y="73659"/>
                </a:lnTo>
                <a:lnTo>
                  <a:pt x="1029969" y="94614"/>
                </a:lnTo>
                <a:lnTo>
                  <a:pt x="1069340" y="118109"/>
                </a:lnTo>
                <a:lnTo>
                  <a:pt x="1105535" y="143509"/>
                </a:lnTo>
                <a:lnTo>
                  <a:pt x="1138555" y="170814"/>
                </a:lnTo>
                <a:lnTo>
                  <a:pt x="1167765" y="200024"/>
                </a:lnTo>
                <a:lnTo>
                  <a:pt x="1192530" y="231139"/>
                </a:lnTo>
                <a:lnTo>
                  <a:pt x="1214120" y="263524"/>
                </a:lnTo>
                <a:lnTo>
                  <a:pt x="1242695" y="332104"/>
                </a:lnTo>
                <a:lnTo>
                  <a:pt x="1252855" y="404494"/>
                </a:lnTo>
                <a:lnTo>
                  <a:pt x="1250315" y="441324"/>
                </a:lnTo>
                <a:lnTo>
                  <a:pt x="1230630" y="512444"/>
                </a:lnTo>
                <a:lnTo>
                  <a:pt x="1192530" y="578484"/>
                </a:lnTo>
                <a:lnTo>
                  <a:pt x="1167765" y="608964"/>
                </a:lnTo>
                <a:lnTo>
                  <a:pt x="1138555" y="638174"/>
                </a:lnTo>
                <a:lnTo>
                  <a:pt x="1105535" y="665479"/>
                </a:lnTo>
                <a:lnTo>
                  <a:pt x="1069340" y="690879"/>
                </a:lnTo>
                <a:lnTo>
                  <a:pt x="1029969" y="714374"/>
                </a:lnTo>
                <a:lnTo>
                  <a:pt x="988060" y="735329"/>
                </a:lnTo>
                <a:lnTo>
                  <a:pt x="942975" y="754379"/>
                </a:lnTo>
                <a:lnTo>
                  <a:pt x="894715" y="770889"/>
                </a:lnTo>
                <a:lnTo>
                  <a:pt x="845185" y="784224"/>
                </a:lnTo>
                <a:lnTo>
                  <a:pt x="793115" y="795019"/>
                </a:lnTo>
                <a:lnTo>
                  <a:pt x="739140" y="803274"/>
                </a:lnTo>
                <a:lnTo>
                  <a:pt x="683260" y="807719"/>
                </a:lnTo>
                <a:lnTo>
                  <a:pt x="626110" y="809624"/>
                </a:lnTo>
                <a:lnTo>
                  <a:pt x="569594" y="807719"/>
                </a:lnTo>
                <a:lnTo>
                  <a:pt x="513715" y="803274"/>
                </a:lnTo>
                <a:lnTo>
                  <a:pt x="459740" y="795019"/>
                </a:lnTo>
                <a:lnTo>
                  <a:pt x="407670" y="784224"/>
                </a:lnTo>
                <a:lnTo>
                  <a:pt x="357505" y="770889"/>
                </a:lnTo>
                <a:lnTo>
                  <a:pt x="309880" y="754379"/>
                </a:lnTo>
                <a:lnTo>
                  <a:pt x="264795" y="735329"/>
                </a:lnTo>
                <a:lnTo>
                  <a:pt x="222884" y="714374"/>
                </a:lnTo>
                <a:lnTo>
                  <a:pt x="183515" y="690879"/>
                </a:lnTo>
                <a:lnTo>
                  <a:pt x="147320" y="665479"/>
                </a:lnTo>
                <a:lnTo>
                  <a:pt x="114300" y="638174"/>
                </a:lnTo>
                <a:lnTo>
                  <a:pt x="85089" y="608964"/>
                </a:lnTo>
                <a:lnTo>
                  <a:pt x="60325" y="578484"/>
                </a:lnTo>
                <a:lnTo>
                  <a:pt x="38735" y="546099"/>
                </a:lnTo>
                <a:lnTo>
                  <a:pt x="9525" y="477519"/>
                </a:lnTo>
                <a:lnTo>
                  <a:pt x="0" y="404494"/>
                </a:lnTo>
                <a:close/>
              </a:path>
            </a:pathLst>
          </a:custGeom>
          <a:ln w="27304">
            <a:solidFill>
              <a:srgbClr val="7F62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2760" y="467683"/>
            <a:ext cx="768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5" dirty="0">
                <a:latin typeface="Trebuchet MS"/>
                <a:cs typeface="Trebuchet MS"/>
              </a:rPr>
              <a:t>Future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170" dirty="0"/>
              <a:t>@SIH</a:t>
            </a:r>
            <a:r>
              <a:rPr spc="35" dirty="0"/>
              <a:t> </a:t>
            </a:r>
            <a:r>
              <a:rPr spc="95" dirty="0"/>
              <a:t>Idea</a:t>
            </a:r>
            <a:r>
              <a:rPr spc="55" dirty="0"/>
              <a:t> </a:t>
            </a:r>
            <a:r>
              <a:rPr spc="100" dirty="0"/>
              <a:t>submission-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0C99462-4C51-C5F4-9282-9A8DB328D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6006" y="125412"/>
            <a:ext cx="1899284" cy="10604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7119" y="203212"/>
            <a:ext cx="10017747" cy="595755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170" dirty="0"/>
              <a:t>@SIH</a:t>
            </a:r>
            <a:r>
              <a:rPr spc="35" dirty="0"/>
              <a:t> </a:t>
            </a:r>
            <a:r>
              <a:rPr spc="95" dirty="0"/>
              <a:t>Idea</a:t>
            </a:r>
            <a:r>
              <a:rPr spc="55" dirty="0"/>
              <a:t> </a:t>
            </a:r>
            <a:r>
              <a:rPr spc="100" dirty="0"/>
              <a:t>submission-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86379" y="224790"/>
            <a:ext cx="66205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FEASIBILITY</a:t>
            </a:r>
            <a:r>
              <a:rPr sz="3600" b="1" spc="-40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AND</a:t>
            </a:r>
            <a:r>
              <a:rPr sz="3600" b="1" spc="-25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VIABILITY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5750" y="250190"/>
            <a:ext cx="1252855" cy="809625"/>
          </a:xfrm>
          <a:custGeom>
            <a:avLst/>
            <a:gdLst/>
            <a:ahLst/>
            <a:cxnLst/>
            <a:rect l="l" t="t" r="r" b="b"/>
            <a:pathLst>
              <a:path w="1252855" h="809625">
                <a:moveTo>
                  <a:pt x="0" y="404494"/>
                </a:moveTo>
                <a:lnTo>
                  <a:pt x="9525" y="332104"/>
                </a:lnTo>
                <a:lnTo>
                  <a:pt x="38735" y="263524"/>
                </a:lnTo>
                <a:lnTo>
                  <a:pt x="60325" y="231139"/>
                </a:lnTo>
                <a:lnTo>
                  <a:pt x="85089" y="200024"/>
                </a:lnTo>
                <a:lnTo>
                  <a:pt x="114300" y="170814"/>
                </a:lnTo>
                <a:lnTo>
                  <a:pt x="147320" y="143509"/>
                </a:lnTo>
                <a:lnTo>
                  <a:pt x="183515" y="118109"/>
                </a:lnTo>
                <a:lnTo>
                  <a:pt x="222884" y="94614"/>
                </a:lnTo>
                <a:lnTo>
                  <a:pt x="264795" y="73659"/>
                </a:lnTo>
                <a:lnTo>
                  <a:pt x="309880" y="55244"/>
                </a:lnTo>
                <a:lnTo>
                  <a:pt x="357505" y="38734"/>
                </a:lnTo>
                <a:lnTo>
                  <a:pt x="407670" y="24764"/>
                </a:lnTo>
                <a:lnTo>
                  <a:pt x="459740" y="13969"/>
                </a:lnTo>
                <a:lnTo>
                  <a:pt x="513715" y="6350"/>
                </a:lnTo>
                <a:lnTo>
                  <a:pt x="569594" y="1269"/>
                </a:lnTo>
                <a:lnTo>
                  <a:pt x="626110" y="0"/>
                </a:lnTo>
                <a:lnTo>
                  <a:pt x="683260" y="1269"/>
                </a:lnTo>
                <a:lnTo>
                  <a:pt x="739140" y="6350"/>
                </a:lnTo>
                <a:lnTo>
                  <a:pt x="793115" y="13969"/>
                </a:lnTo>
                <a:lnTo>
                  <a:pt x="845185" y="24764"/>
                </a:lnTo>
                <a:lnTo>
                  <a:pt x="894715" y="38734"/>
                </a:lnTo>
                <a:lnTo>
                  <a:pt x="942975" y="55244"/>
                </a:lnTo>
                <a:lnTo>
                  <a:pt x="988060" y="73659"/>
                </a:lnTo>
                <a:lnTo>
                  <a:pt x="1029969" y="94614"/>
                </a:lnTo>
                <a:lnTo>
                  <a:pt x="1069340" y="118109"/>
                </a:lnTo>
                <a:lnTo>
                  <a:pt x="1105535" y="143509"/>
                </a:lnTo>
                <a:lnTo>
                  <a:pt x="1138555" y="170814"/>
                </a:lnTo>
                <a:lnTo>
                  <a:pt x="1167765" y="200024"/>
                </a:lnTo>
                <a:lnTo>
                  <a:pt x="1192530" y="231139"/>
                </a:lnTo>
                <a:lnTo>
                  <a:pt x="1214120" y="263524"/>
                </a:lnTo>
                <a:lnTo>
                  <a:pt x="1242695" y="332104"/>
                </a:lnTo>
                <a:lnTo>
                  <a:pt x="1252855" y="404494"/>
                </a:lnTo>
                <a:lnTo>
                  <a:pt x="1250315" y="441324"/>
                </a:lnTo>
                <a:lnTo>
                  <a:pt x="1230630" y="512444"/>
                </a:lnTo>
                <a:lnTo>
                  <a:pt x="1192530" y="578484"/>
                </a:lnTo>
                <a:lnTo>
                  <a:pt x="1167765" y="608964"/>
                </a:lnTo>
                <a:lnTo>
                  <a:pt x="1138555" y="638174"/>
                </a:lnTo>
                <a:lnTo>
                  <a:pt x="1105535" y="665479"/>
                </a:lnTo>
                <a:lnTo>
                  <a:pt x="1069340" y="690879"/>
                </a:lnTo>
                <a:lnTo>
                  <a:pt x="1029969" y="714374"/>
                </a:lnTo>
                <a:lnTo>
                  <a:pt x="988060" y="735329"/>
                </a:lnTo>
                <a:lnTo>
                  <a:pt x="942975" y="754379"/>
                </a:lnTo>
                <a:lnTo>
                  <a:pt x="894715" y="770889"/>
                </a:lnTo>
                <a:lnTo>
                  <a:pt x="845185" y="784224"/>
                </a:lnTo>
                <a:lnTo>
                  <a:pt x="793115" y="795019"/>
                </a:lnTo>
                <a:lnTo>
                  <a:pt x="739140" y="803274"/>
                </a:lnTo>
                <a:lnTo>
                  <a:pt x="683260" y="807719"/>
                </a:lnTo>
                <a:lnTo>
                  <a:pt x="626110" y="809624"/>
                </a:lnTo>
                <a:lnTo>
                  <a:pt x="569594" y="807719"/>
                </a:lnTo>
                <a:lnTo>
                  <a:pt x="513715" y="803274"/>
                </a:lnTo>
                <a:lnTo>
                  <a:pt x="459740" y="795019"/>
                </a:lnTo>
                <a:lnTo>
                  <a:pt x="407670" y="784224"/>
                </a:lnTo>
                <a:lnTo>
                  <a:pt x="357505" y="770889"/>
                </a:lnTo>
                <a:lnTo>
                  <a:pt x="309880" y="754379"/>
                </a:lnTo>
                <a:lnTo>
                  <a:pt x="264795" y="735329"/>
                </a:lnTo>
                <a:lnTo>
                  <a:pt x="222884" y="714374"/>
                </a:lnTo>
                <a:lnTo>
                  <a:pt x="183515" y="690879"/>
                </a:lnTo>
                <a:lnTo>
                  <a:pt x="147320" y="665479"/>
                </a:lnTo>
                <a:lnTo>
                  <a:pt x="114300" y="638174"/>
                </a:lnTo>
                <a:lnTo>
                  <a:pt x="85089" y="608964"/>
                </a:lnTo>
                <a:lnTo>
                  <a:pt x="60325" y="578484"/>
                </a:lnTo>
                <a:lnTo>
                  <a:pt x="38735" y="546099"/>
                </a:lnTo>
                <a:lnTo>
                  <a:pt x="9525" y="477519"/>
                </a:lnTo>
                <a:lnTo>
                  <a:pt x="0" y="404494"/>
                </a:lnTo>
                <a:close/>
              </a:path>
            </a:pathLst>
          </a:custGeom>
          <a:ln w="27304">
            <a:solidFill>
              <a:srgbClr val="7F62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20700" y="529771"/>
            <a:ext cx="768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65" dirty="0">
                <a:latin typeface="Trebuchet MS"/>
                <a:cs typeface="Trebuchet MS"/>
              </a:rPr>
              <a:t>Future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170" dirty="0"/>
              <a:t>@SIH</a:t>
            </a:r>
            <a:r>
              <a:rPr spc="35" dirty="0"/>
              <a:t> </a:t>
            </a:r>
            <a:r>
              <a:rPr spc="95" dirty="0"/>
              <a:t>Idea</a:t>
            </a:r>
            <a:r>
              <a:rPr spc="55" dirty="0"/>
              <a:t> </a:t>
            </a:r>
            <a:r>
              <a:rPr spc="100" dirty="0"/>
              <a:t>submission-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r>
              <a:rPr spc="-50" dirty="0"/>
              <a:t>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5F1AFC-D357-A1FC-FB01-7F1FC252E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339396"/>
            <a:ext cx="10287000" cy="43046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E86C3A2-04FE-B5C0-6136-1774E0FA2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6006" y="125412"/>
            <a:ext cx="1899284" cy="10604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24000" y="153670"/>
            <a:ext cx="8133080" cy="692149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981200">
              <a:lnSpc>
                <a:spcPct val="100000"/>
              </a:lnSpc>
              <a:spcBef>
                <a:spcPts val="100"/>
              </a:spcBef>
            </a:pPr>
            <a:r>
              <a:rPr dirty="0"/>
              <a:t>IMPACT</a:t>
            </a:r>
            <a:r>
              <a:rPr spc="-135" dirty="0"/>
              <a:t> </a:t>
            </a:r>
            <a:r>
              <a:rPr dirty="0"/>
              <a:t>AND</a:t>
            </a:r>
            <a:r>
              <a:rPr spc="-130" dirty="0"/>
              <a:t> </a:t>
            </a:r>
            <a:r>
              <a:rPr spc="-10" dirty="0"/>
              <a:t>BENEFITS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304"/>
              </a:lnSpc>
              <a:spcBef>
                <a:spcPts val="100"/>
              </a:spcBef>
            </a:pPr>
            <a:r>
              <a:rPr spc="320" dirty="0"/>
              <a:t>Disaster</a:t>
            </a:r>
            <a:r>
              <a:rPr spc="180" dirty="0"/>
              <a:t> </a:t>
            </a:r>
            <a:r>
              <a:rPr spc="375" dirty="0"/>
              <a:t>Management</a:t>
            </a:r>
          </a:p>
          <a:p>
            <a:pPr marL="467995" marR="2980690" indent="-455295">
              <a:lnSpc>
                <a:spcPts val="3180"/>
              </a:lnSpc>
              <a:spcBef>
                <a:spcPts val="200"/>
              </a:spcBef>
              <a:buChar char="•"/>
              <a:tabLst>
                <a:tab pos="469900" algn="l"/>
              </a:tabLst>
            </a:pPr>
            <a:r>
              <a:rPr b="0" spc="150" dirty="0">
                <a:latin typeface="Trebuchet MS"/>
                <a:cs typeface="Trebuchet MS"/>
              </a:rPr>
              <a:t>Early</a:t>
            </a:r>
            <a:r>
              <a:rPr b="0" spc="60" dirty="0">
                <a:latin typeface="Trebuchet MS"/>
                <a:cs typeface="Trebuchet MS"/>
              </a:rPr>
              <a:t> </a:t>
            </a:r>
            <a:r>
              <a:rPr b="0" spc="114" dirty="0">
                <a:latin typeface="Trebuchet MS"/>
                <a:cs typeface="Trebuchet MS"/>
              </a:rPr>
              <a:t>detection</a:t>
            </a:r>
            <a:r>
              <a:rPr b="0" spc="85" dirty="0">
                <a:latin typeface="Trebuchet MS"/>
                <a:cs typeface="Trebuchet MS"/>
              </a:rPr>
              <a:t> </a:t>
            </a:r>
            <a:r>
              <a:rPr b="0" spc="70" dirty="0">
                <a:latin typeface="Trebuchet MS"/>
                <a:cs typeface="Trebuchet MS"/>
              </a:rPr>
              <a:t>of</a:t>
            </a:r>
            <a:r>
              <a:rPr b="0" spc="55" dirty="0">
                <a:latin typeface="Trebuchet MS"/>
                <a:cs typeface="Trebuchet MS"/>
              </a:rPr>
              <a:t> </a:t>
            </a:r>
            <a:r>
              <a:rPr b="0" spc="220" dirty="0">
                <a:latin typeface="Trebuchet MS"/>
                <a:cs typeface="Trebuchet MS"/>
              </a:rPr>
              <a:t>sensor</a:t>
            </a:r>
            <a:r>
              <a:rPr b="0" spc="65" dirty="0">
                <a:latin typeface="Trebuchet MS"/>
                <a:cs typeface="Trebuchet MS"/>
              </a:rPr>
              <a:t> </a:t>
            </a:r>
            <a:r>
              <a:rPr b="0" spc="110" dirty="0">
                <a:latin typeface="Trebuchet MS"/>
                <a:cs typeface="Trebuchet MS"/>
              </a:rPr>
              <a:t>failures</a:t>
            </a:r>
            <a:r>
              <a:rPr b="0" spc="70" dirty="0">
                <a:latin typeface="Trebuchet MS"/>
                <a:cs typeface="Trebuchet MS"/>
              </a:rPr>
              <a:t> </a:t>
            </a:r>
            <a:r>
              <a:rPr b="0" spc="165" dirty="0">
                <a:latin typeface="Trebuchet MS"/>
                <a:cs typeface="Trebuchet MS"/>
              </a:rPr>
              <a:t>prevents 	</a:t>
            </a:r>
            <a:r>
              <a:rPr b="0" spc="125" dirty="0">
                <a:latin typeface="Trebuchet MS"/>
                <a:cs typeface="Trebuchet MS"/>
              </a:rPr>
              <a:t>false</a:t>
            </a:r>
            <a:r>
              <a:rPr b="0" spc="55" dirty="0">
                <a:latin typeface="Trebuchet MS"/>
                <a:cs typeface="Trebuchet MS"/>
              </a:rPr>
              <a:t> </a:t>
            </a:r>
            <a:r>
              <a:rPr b="0" spc="195" dirty="0">
                <a:latin typeface="Trebuchet MS"/>
                <a:cs typeface="Trebuchet MS"/>
              </a:rPr>
              <a:t>alarms</a:t>
            </a:r>
            <a:r>
              <a:rPr b="0" spc="60" dirty="0">
                <a:latin typeface="Trebuchet MS"/>
                <a:cs typeface="Trebuchet MS"/>
              </a:rPr>
              <a:t> </a:t>
            </a:r>
            <a:r>
              <a:rPr b="0" spc="225" dirty="0">
                <a:latin typeface="Trebuchet MS"/>
                <a:cs typeface="Trebuchet MS"/>
              </a:rPr>
              <a:t>and</a:t>
            </a:r>
            <a:r>
              <a:rPr b="0" spc="45" dirty="0">
                <a:latin typeface="Trebuchet MS"/>
                <a:cs typeface="Trebuchet MS"/>
              </a:rPr>
              <a:t> </a:t>
            </a:r>
            <a:r>
              <a:rPr b="0" spc="229" dirty="0">
                <a:latin typeface="Trebuchet MS"/>
                <a:cs typeface="Trebuchet MS"/>
              </a:rPr>
              <a:t>missed</a:t>
            </a:r>
            <a:r>
              <a:rPr b="0" spc="45" dirty="0">
                <a:latin typeface="Trebuchet MS"/>
                <a:cs typeface="Trebuchet MS"/>
              </a:rPr>
              <a:t> </a:t>
            </a:r>
            <a:r>
              <a:rPr b="0" spc="185" dirty="0">
                <a:latin typeface="Trebuchet MS"/>
                <a:cs typeface="Trebuchet MS"/>
              </a:rPr>
              <a:t>warnings</a:t>
            </a:r>
          </a:p>
          <a:p>
            <a:pPr marL="467995" marR="3388360" indent="-455295">
              <a:lnSpc>
                <a:spcPts val="3180"/>
              </a:lnSpc>
              <a:spcBef>
                <a:spcPts val="60"/>
              </a:spcBef>
              <a:buChar char="•"/>
              <a:tabLst>
                <a:tab pos="469900" algn="l"/>
              </a:tabLst>
            </a:pPr>
            <a:r>
              <a:rPr b="0" spc="204" dirty="0">
                <a:latin typeface="Trebuchet MS"/>
                <a:cs typeface="Trebuchet MS"/>
              </a:rPr>
              <a:t>Improves</a:t>
            </a:r>
            <a:r>
              <a:rPr b="0" spc="75" dirty="0">
                <a:latin typeface="Trebuchet MS"/>
                <a:cs typeface="Trebuchet MS"/>
              </a:rPr>
              <a:t> </a:t>
            </a:r>
            <a:r>
              <a:rPr b="0" spc="175" dirty="0">
                <a:latin typeface="Trebuchet MS"/>
                <a:cs typeface="Trebuchet MS"/>
              </a:rPr>
              <a:t>accuracy</a:t>
            </a:r>
            <a:r>
              <a:rPr b="0" spc="70" dirty="0">
                <a:latin typeface="Trebuchet MS"/>
                <a:cs typeface="Trebuchet MS"/>
              </a:rPr>
              <a:t> of</a:t>
            </a:r>
            <a:r>
              <a:rPr b="0" spc="55" dirty="0">
                <a:latin typeface="Trebuchet MS"/>
                <a:cs typeface="Trebuchet MS"/>
              </a:rPr>
              <a:t> </a:t>
            </a:r>
            <a:r>
              <a:rPr b="0" spc="150" dirty="0">
                <a:latin typeface="Trebuchet MS"/>
                <a:cs typeface="Trebuchet MS"/>
              </a:rPr>
              <a:t>weather</a:t>
            </a:r>
            <a:r>
              <a:rPr b="0" spc="70" dirty="0">
                <a:latin typeface="Trebuchet MS"/>
                <a:cs typeface="Trebuchet MS"/>
              </a:rPr>
              <a:t> </a:t>
            </a:r>
            <a:r>
              <a:rPr b="0" spc="135" dirty="0">
                <a:latin typeface="Trebuchet MS"/>
                <a:cs typeface="Trebuchet MS"/>
              </a:rPr>
              <a:t>forecasts 	</a:t>
            </a:r>
            <a:r>
              <a:rPr b="0" spc="225" dirty="0">
                <a:latin typeface="Trebuchet MS"/>
                <a:cs typeface="Trebuchet MS"/>
              </a:rPr>
              <a:t>and</a:t>
            </a:r>
            <a:r>
              <a:rPr b="0" spc="50" dirty="0">
                <a:latin typeface="Trebuchet MS"/>
                <a:cs typeface="Trebuchet MS"/>
              </a:rPr>
              <a:t> </a:t>
            </a:r>
            <a:r>
              <a:rPr b="0" spc="155" dirty="0">
                <a:latin typeface="Trebuchet MS"/>
                <a:cs typeface="Trebuchet MS"/>
              </a:rPr>
              <a:t>disaster</a:t>
            </a:r>
            <a:r>
              <a:rPr b="0" spc="60" dirty="0">
                <a:latin typeface="Trebuchet MS"/>
                <a:cs typeface="Trebuchet MS"/>
              </a:rPr>
              <a:t> </a:t>
            </a:r>
            <a:r>
              <a:rPr b="0" spc="175" dirty="0">
                <a:latin typeface="Trebuchet MS"/>
                <a:cs typeface="Trebuchet MS"/>
              </a:rPr>
              <a:t>preparedness</a:t>
            </a:r>
          </a:p>
          <a:p>
            <a:pPr marL="12700">
              <a:lnSpc>
                <a:spcPts val="3265"/>
              </a:lnSpc>
            </a:pPr>
            <a:r>
              <a:rPr spc="305" dirty="0"/>
              <a:t>Broader</a:t>
            </a:r>
            <a:r>
              <a:rPr spc="175" dirty="0"/>
              <a:t> </a:t>
            </a:r>
            <a:r>
              <a:rPr spc="300" dirty="0"/>
              <a:t>Impact</a:t>
            </a:r>
          </a:p>
          <a:p>
            <a:pPr marL="467995" indent="-455295">
              <a:lnSpc>
                <a:spcPct val="100000"/>
              </a:lnSpc>
              <a:buFont typeface="Trebuchet MS"/>
              <a:buChar char="•"/>
              <a:tabLst>
                <a:tab pos="467995" algn="l"/>
              </a:tabLst>
            </a:pPr>
            <a:r>
              <a:rPr spc="260" dirty="0"/>
              <a:t>Social:</a:t>
            </a:r>
            <a:r>
              <a:rPr spc="165" dirty="0"/>
              <a:t> </a:t>
            </a:r>
            <a:r>
              <a:rPr b="0" spc="280" dirty="0">
                <a:latin typeface="Trebuchet MS"/>
                <a:cs typeface="Trebuchet MS"/>
              </a:rPr>
              <a:t>Saves</a:t>
            </a:r>
            <a:r>
              <a:rPr b="0" spc="70" dirty="0">
                <a:latin typeface="Trebuchet MS"/>
                <a:cs typeface="Trebuchet MS"/>
              </a:rPr>
              <a:t> </a:t>
            </a:r>
            <a:r>
              <a:rPr b="0" spc="135" dirty="0">
                <a:latin typeface="Trebuchet MS"/>
                <a:cs typeface="Trebuchet MS"/>
              </a:rPr>
              <a:t>lives</a:t>
            </a:r>
            <a:r>
              <a:rPr b="0" spc="65" dirty="0">
                <a:latin typeface="Trebuchet MS"/>
                <a:cs typeface="Trebuchet MS"/>
              </a:rPr>
              <a:t> </a:t>
            </a:r>
            <a:r>
              <a:rPr b="0" spc="180" dirty="0">
                <a:latin typeface="Trebuchet MS"/>
                <a:cs typeface="Trebuchet MS"/>
              </a:rPr>
              <a:t>through</a:t>
            </a:r>
            <a:r>
              <a:rPr b="0" spc="85" dirty="0">
                <a:latin typeface="Trebuchet MS"/>
                <a:cs typeface="Trebuchet MS"/>
              </a:rPr>
              <a:t> </a:t>
            </a:r>
            <a:r>
              <a:rPr b="0" spc="90" dirty="0">
                <a:latin typeface="Trebuchet MS"/>
                <a:cs typeface="Trebuchet MS"/>
              </a:rPr>
              <a:t>reliable</a:t>
            </a:r>
            <a:r>
              <a:rPr b="0" spc="65" dirty="0">
                <a:latin typeface="Trebuchet MS"/>
                <a:cs typeface="Trebuchet MS"/>
              </a:rPr>
              <a:t> </a:t>
            </a:r>
            <a:r>
              <a:rPr b="0" spc="130" dirty="0">
                <a:latin typeface="Trebuchet MS"/>
                <a:cs typeface="Trebuchet MS"/>
              </a:rPr>
              <a:t>early</a:t>
            </a:r>
            <a:r>
              <a:rPr b="0" spc="85" dirty="0">
                <a:latin typeface="Trebuchet MS"/>
                <a:cs typeface="Trebuchet MS"/>
              </a:rPr>
              <a:t> </a:t>
            </a:r>
            <a:r>
              <a:rPr b="0" spc="180" dirty="0">
                <a:latin typeface="Trebuchet MS"/>
                <a:cs typeface="Trebuchet MS"/>
              </a:rPr>
              <a:t>warning</a:t>
            </a:r>
            <a:r>
              <a:rPr b="0" spc="80" dirty="0">
                <a:latin typeface="Trebuchet MS"/>
                <a:cs typeface="Trebuchet MS"/>
              </a:rPr>
              <a:t> </a:t>
            </a:r>
            <a:r>
              <a:rPr b="0" spc="229" dirty="0">
                <a:latin typeface="Trebuchet MS"/>
                <a:cs typeface="Trebuchet MS"/>
              </a:rPr>
              <a:t>systems</a:t>
            </a:r>
          </a:p>
          <a:p>
            <a:pPr marL="467995" indent="-455295">
              <a:lnSpc>
                <a:spcPts val="3290"/>
              </a:lnSpc>
              <a:buFont typeface="Trebuchet MS"/>
              <a:buChar char="•"/>
              <a:tabLst>
                <a:tab pos="467995" algn="l"/>
              </a:tabLst>
            </a:pPr>
            <a:r>
              <a:rPr spc="265" dirty="0"/>
              <a:t>Economic:</a:t>
            </a:r>
            <a:r>
              <a:rPr spc="180" dirty="0"/>
              <a:t> </a:t>
            </a:r>
            <a:r>
              <a:rPr b="0" spc="225" dirty="0">
                <a:latin typeface="Trebuchet MS"/>
                <a:cs typeface="Trebuchet MS"/>
              </a:rPr>
              <a:t>Reduces</a:t>
            </a:r>
            <a:r>
              <a:rPr b="0" spc="90" dirty="0">
                <a:latin typeface="Trebuchet MS"/>
                <a:cs typeface="Trebuchet MS"/>
              </a:rPr>
              <a:t> </a:t>
            </a:r>
            <a:r>
              <a:rPr b="0" spc="204" dirty="0">
                <a:latin typeface="Trebuchet MS"/>
                <a:cs typeface="Trebuchet MS"/>
              </a:rPr>
              <a:t>losses</a:t>
            </a:r>
            <a:r>
              <a:rPr b="0" spc="80" dirty="0">
                <a:latin typeface="Trebuchet MS"/>
                <a:cs typeface="Trebuchet MS"/>
              </a:rPr>
              <a:t> </a:t>
            </a:r>
            <a:r>
              <a:rPr b="0" spc="140" dirty="0">
                <a:latin typeface="Trebuchet MS"/>
                <a:cs typeface="Trebuchet MS"/>
              </a:rPr>
              <a:t>from</a:t>
            </a:r>
            <a:r>
              <a:rPr b="0" spc="85" dirty="0">
                <a:latin typeface="Trebuchet MS"/>
                <a:cs typeface="Trebuchet MS"/>
              </a:rPr>
              <a:t> </a:t>
            </a:r>
            <a:r>
              <a:rPr b="0" spc="120" dirty="0">
                <a:latin typeface="Trebuchet MS"/>
                <a:cs typeface="Trebuchet MS"/>
              </a:rPr>
              <a:t>weather-</a:t>
            </a:r>
            <a:r>
              <a:rPr b="0" spc="110" dirty="0">
                <a:latin typeface="Trebuchet MS"/>
                <a:cs typeface="Trebuchet MS"/>
              </a:rPr>
              <a:t>related</a:t>
            </a:r>
            <a:r>
              <a:rPr b="0" spc="90" dirty="0">
                <a:latin typeface="Trebuchet MS"/>
                <a:cs typeface="Trebuchet MS"/>
              </a:rPr>
              <a:t> </a:t>
            </a:r>
            <a:r>
              <a:rPr b="0" spc="155" dirty="0">
                <a:latin typeface="Trebuchet MS"/>
                <a:cs typeface="Trebuchet MS"/>
              </a:rPr>
              <a:t>disasters</a:t>
            </a:r>
          </a:p>
          <a:p>
            <a:pPr marL="467995" marR="3319145" indent="-455295">
              <a:lnSpc>
                <a:spcPts val="3170"/>
              </a:lnSpc>
              <a:spcBef>
                <a:spcPts val="195"/>
              </a:spcBef>
              <a:buFont typeface="Trebuchet MS"/>
              <a:buChar char="•"/>
              <a:tabLst>
                <a:tab pos="469900" algn="l"/>
              </a:tabLst>
            </a:pPr>
            <a:r>
              <a:rPr spc="275" dirty="0"/>
              <a:t>Environmental:</a:t>
            </a:r>
            <a:r>
              <a:rPr spc="160" dirty="0"/>
              <a:t> </a:t>
            </a:r>
            <a:r>
              <a:rPr b="0" spc="195" dirty="0">
                <a:latin typeface="Trebuchet MS"/>
                <a:cs typeface="Trebuchet MS"/>
              </a:rPr>
              <a:t>Enables</a:t>
            </a:r>
            <a:r>
              <a:rPr b="0" spc="75" dirty="0">
                <a:latin typeface="Trebuchet MS"/>
                <a:cs typeface="Trebuchet MS"/>
              </a:rPr>
              <a:t> </a:t>
            </a:r>
            <a:r>
              <a:rPr b="0" spc="90" dirty="0">
                <a:latin typeface="Trebuchet MS"/>
                <a:cs typeface="Trebuchet MS"/>
              </a:rPr>
              <a:t>better</a:t>
            </a:r>
            <a:r>
              <a:rPr b="0" spc="70" dirty="0">
                <a:latin typeface="Trebuchet MS"/>
                <a:cs typeface="Trebuchet MS"/>
              </a:rPr>
              <a:t> </a:t>
            </a:r>
            <a:r>
              <a:rPr b="0" spc="100" dirty="0">
                <a:latin typeface="Trebuchet MS"/>
                <a:cs typeface="Trebuchet MS"/>
              </a:rPr>
              <a:t>climate 	</a:t>
            </a:r>
            <a:r>
              <a:rPr b="0" spc="160" dirty="0">
                <a:latin typeface="Trebuchet MS"/>
                <a:cs typeface="Trebuchet MS"/>
              </a:rPr>
              <a:t>monitoring</a:t>
            </a:r>
            <a:r>
              <a:rPr b="0" spc="85" dirty="0">
                <a:latin typeface="Trebuchet MS"/>
                <a:cs typeface="Trebuchet MS"/>
              </a:rPr>
              <a:t> </a:t>
            </a:r>
            <a:r>
              <a:rPr b="0" spc="225" dirty="0">
                <a:latin typeface="Trebuchet MS"/>
                <a:cs typeface="Trebuchet MS"/>
              </a:rPr>
              <a:t>and</a:t>
            </a:r>
            <a:r>
              <a:rPr b="0" spc="65" dirty="0">
                <a:latin typeface="Trebuchet MS"/>
                <a:cs typeface="Trebuchet MS"/>
              </a:rPr>
              <a:t> </a:t>
            </a:r>
            <a:r>
              <a:rPr b="0" spc="155" dirty="0">
                <a:latin typeface="Trebuchet MS"/>
                <a:cs typeface="Trebuchet MS"/>
              </a:rPr>
              <a:t>research</a:t>
            </a:r>
          </a:p>
        </p:txBody>
      </p:sp>
      <p:sp>
        <p:nvSpPr>
          <p:cNvPr id="4" name="object 4"/>
          <p:cNvSpPr/>
          <p:nvPr/>
        </p:nvSpPr>
        <p:spPr>
          <a:xfrm>
            <a:off x="328295" y="250825"/>
            <a:ext cx="1252855" cy="809625"/>
          </a:xfrm>
          <a:custGeom>
            <a:avLst/>
            <a:gdLst/>
            <a:ahLst/>
            <a:cxnLst/>
            <a:rect l="l" t="t" r="r" b="b"/>
            <a:pathLst>
              <a:path w="1252855" h="809625">
                <a:moveTo>
                  <a:pt x="0" y="404495"/>
                </a:moveTo>
                <a:lnTo>
                  <a:pt x="9525" y="332104"/>
                </a:lnTo>
                <a:lnTo>
                  <a:pt x="38734" y="263525"/>
                </a:lnTo>
                <a:lnTo>
                  <a:pt x="60325" y="231139"/>
                </a:lnTo>
                <a:lnTo>
                  <a:pt x="85089" y="200025"/>
                </a:lnTo>
                <a:lnTo>
                  <a:pt x="114300" y="170814"/>
                </a:lnTo>
                <a:lnTo>
                  <a:pt x="147320" y="143510"/>
                </a:lnTo>
                <a:lnTo>
                  <a:pt x="183514" y="118110"/>
                </a:lnTo>
                <a:lnTo>
                  <a:pt x="222884" y="94615"/>
                </a:lnTo>
                <a:lnTo>
                  <a:pt x="264795" y="73659"/>
                </a:lnTo>
                <a:lnTo>
                  <a:pt x="309880" y="55245"/>
                </a:lnTo>
                <a:lnTo>
                  <a:pt x="357505" y="38734"/>
                </a:lnTo>
                <a:lnTo>
                  <a:pt x="407670" y="24765"/>
                </a:lnTo>
                <a:lnTo>
                  <a:pt x="459739" y="13970"/>
                </a:lnTo>
                <a:lnTo>
                  <a:pt x="513714" y="6350"/>
                </a:lnTo>
                <a:lnTo>
                  <a:pt x="569595" y="1270"/>
                </a:lnTo>
                <a:lnTo>
                  <a:pt x="626110" y="0"/>
                </a:lnTo>
                <a:lnTo>
                  <a:pt x="683260" y="1270"/>
                </a:lnTo>
                <a:lnTo>
                  <a:pt x="739140" y="6350"/>
                </a:lnTo>
                <a:lnTo>
                  <a:pt x="793115" y="13970"/>
                </a:lnTo>
                <a:lnTo>
                  <a:pt x="845185" y="24765"/>
                </a:lnTo>
                <a:lnTo>
                  <a:pt x="894714" y="38734"/>
                </a:lnTo>
                <a:lnTo>
                  <a:pt x="942975" y="55245"/>
                </a:lnTo>
                <a:lnTo>
                  <a:pt x="988060" y="73659"/>
                </a:lnTo>
                <a:lnTo>
                  <a:pt x="1029969" y="94615"/>
                </a:lnTo>
                <a:lnTo>
                  <a:pt x="1069339" y="118110"/>
                </a:lnTo>
                <a:lnTo>
                  <a:pt x="1105535" y="143510"/>
                </a:lnTo>
                <a:lnTo>
                  <a:pt x="1138555" y="170814"/>
                </a:lnTo>
                <a:lnTo>
                  <a:pt x="1167764" y="200025"/>
                </a:lnTo>
                <a:lnTo>
                  <a:pt x="1192530" y="231139"/>
                </a:lnTo>
                <a:lnTo>
                  <a:pt x="1214120" y="263525"/>
                </a:lnTo>
                <a:lnTo>
                  <a:pt x="1242695" y="332104"/>
                </a:lnTo>
                <a:lnTo>
                  <a:pt x="1252855" y="404495"/>
                </a:lnTo>
                <a:lnTo>
                  <a:pt x="1250314" y="441325"/>
                </a:lnTo>
                <a:lnTo>
                  <a:pt x="1230630" y="512445"/>
                </a:lnTo>
                <a:lnTo>
                  <a:pt x="1192530" y="578485"/>
                </a:lnTo>
                <a:lnTo>
                  <a:pt x="1167764" y="608964"/>
                </a:lnTo>
                <a:lnTo>
                  <a:pt x="1138555" y="638175"/>
                </a:lnTo>
                <a:lnTo>
                  <a:pt x="1105535" y="665479"/>
                </a:lnTo>
                <a:lnTo>
                  <a:pt x="1069339" y="690879"/>
                </a:lnTo>
                <a:lnTo>
                  <a:pt x="1029969" y="714375"/>
                </a:lnTo>
                <a:lnTo>
                  <a:pt x="988060" y="735329"/>
                </a:lnTo>
                <a:lnTo>
                  <a:pt x="942975" y="754379"/>
                </a:lnTo>
                <a:lnTo>
                  <a:pt x="894714" y="770889"/>
                </a:lnTo>
                <a:lnTo>
                  <a:pt x="845185" y="784225"/>
                </a:lnTo>
                <a:lnTo>
                  <a:pt x="793115" y="795020"/>
                </a:lnTo>
                <a:lnTo>
                  <a:pt x="739140" y="803275"/>
                </a:lnTo>
                <a:lnTo>
                  <a:pt x="683260" y="807720"/>
                </a:lnTo>
                <a:lnTo>
                  <a:pt x="626110" y="809625"/>
                </a:lnTo>
                <a:lnTo>
                  <a:pt x="569595" y="807720"/>
                </a:lnTo>
                <a:lnTo>
                  <a:pt x="513714" y="803275"/>
                </a:lnTo>
                <a:lnTo>
                  <a:pt x="459739" y="795020"/>
                </a:lnTo>
                <a:lnTo>
                  <a:pt x="407670" y="784225"/>
                </a:lnTo>
                <a:lnTo>
                  <a:pt x="357505" y="770889"/>
                </a:lnTo>
                <a:lnTo>
                  <a:pt x="309880" y="754379"/>
                </a:lnTo>
                <a:lnTo>
                  <a:pt x="264795" y="735329"/>
                </a:lnTo>
                <a:lnTo>
                  <a:pt x="222884" y="714375"/>
                </a:lnTo>
                <a:lnTo>
                  <a:pt x="183514" y="690879"/>
                </a:lnTo>
                <a:lnTo>
                  <a:pt x="147320" y="665479"/>
                </a:lnTo>
                <a:lnTo>
                  <a:pt x="114300" y="638175"/>
                </a:lnTo>
                <a:lnTo>
                  <a:pt x="85089" y="608964"/>
                </a:lnTo>
                <a:lnTo>
                  <a:pt x="60325" y="578485"/>
                </a:lnTo>
                <a:lnTo>
                  <a:pt x="38734" y="546100"/>
                </a:lnTo>
                <a:lnTo>
                  <a:pt x="9525" y="477520"/>
                </a:lnTo>
                <a:lnTo>
                  <a:pt x="0" y="404495"/>
                </a:lnTo>
                <a:close/>
              </a:path>
            </a:pathLst>
          </a:custGeom>
          <a:ln w="27304">
            <a:solidFill>
              <a:srgbClr val="7F62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1090" y="488858"/>
            <a:ext cx="768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65" dirty="0">
                <a:latin typeface="Trebuchet MS"/>
                <a:cs typeface="Trebuchet MS"/>
              </a:rPr>
              <a:t>Future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170" dirty="0"/>
              <a:t>@SIH</a:t>
            </a:r>
            <a:r>
              <a:rPr spc="35" dirty="0"/>
              <a:t> </a:t>
            </a:r>
            <a:r>
              <a:rPr spc="95" dirty="0"/>
              <a:t>Idea</a:t>
            </a:r>
            <a:r>
              <a:rPr spc="55" dirty="0"/>
              <a:t> </a:t>
            </a:r>
            <a:r>
              <a:rPr spc="100" dirty="0"/>
              <a:t>submission-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r>
              <a:rPr spc="-50" dirty="0"/>
              <a:t>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8E15E1-BC09-747C-7EEB-2E3549FF2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6006" y="125412"/>
            <a:ext cx="1899284" cy="10604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31439" y="224790"/>
            <a:ext cx="6935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RESEARCH</a:t>
            </a:r>
            <a:r>
              <a:rPr sz="3600" b="1" spc="65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AND</a:t>
            </a:r>
            <a:r>
              <a:rPr sz="3600" b="1" spc="5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REFERENCES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7650" y="1710054"/>
            <a:ext cx="11719560" cy="0"/>
          </a:xfrm>
          <a:custGeom>
            <a:avLst/>
            <a:gdLst/>
            <a:ahLst/>
            <a:cxnLst/>
            <a:rect l="l" t="t" r="r" b="b"/>
            <a:pathLst>
              <a:path w="11719560">
                <a:moveTo>
                  <a:pt x="0" y="0"/>
                </a:moveTo>
                <a:lnTo>
                  <a:pt x="11719560" y="0"/>
                </a:lnTo>
              </a:path>
            </a:pathLst>
          </a:custGeom>
          <a:ln w="3175">
            <a:solidFill>
              <a:srgbClr val="3537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7650" y="3396615"/>
            <a:ext cx="11719560" cy="0"/>
          </a:xfrm>
          <a:custGeom>
            <a:avLst/>
            <a:gdLst/>
            <a:ahLst/>
            <a:cxnLst/>
            <a:rect l="l" t="t" r="r" b="b"/>
            <a:pathLst>
              <a:path w="11719560">
                <a:moveTo>
                  <a:pt x="0" y="0"/>
                </a:moveTo>
                <a:lnTo>
                  <a:pt x="11719560" y="0"/>
                </a:lnTo>
              </a:path>
            </a:pathLst>
          </a:custGeom>
          <a:ln w="3175">
            <a:solidFill>
              <a:srgbClr val="3537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47650" y="5614034"/>
            <a:ext cx="11719560" cy="0"/>
          </a:xfrm>
          <a:custGeom>
            <a:avLst/>
            <a:gdLst/>
            <a:ahLst/>
            <a:cxnLst/>
            <a:rect l="l" t="t" r="r" b="b"/>
            <a:pathLst>
              <a:path w="11719560">
                <a:moveTo>
                  <a:pt x="0" y="0"/>
                </a:moveTo>
                <a:lnTo>
                  <a:pt x="11719560" y="0"/>
                </a:lnTo>
              </a:path>
            </a:pathLst>
          </a:custGeom>
          <a:ln w="3175">
            <a:solidFill>
              <a:srgbClr val="3537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1350" y="1400809"/>
            <a:ext cx="3683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80" dirty="0">
                <a:latin typeface="Trebuchet MS"/>
                <a:cs typeface="Trebuchet MS"/>
              </a:rPr>
              <a:t>Year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72589" y="1400809"/>
            <a:ext cx="161925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114" dirty="0">
                <a:latin typeface="Trebuchet MS"/>
                <a:cs typeface="Trebuchet MS"/>
              </a:rPr>
              <a:t>Research</a:t>
            </a:r>
            <a:r>
              <a:rPr sz="1050" b="1" spc="35" dirty="0">
                <a:latin typeface="Trebuchet MS"/>
                <a:cs typeface="Trebuchet MS"/>
              </a:rPr>
              <a:t> </a:t>
            </a:r>
            <a:r>
              <a:rPr sz="1050" b="1" dirty="0">
                <a:latin typeface="Trebuchet MS"/>
                <a:cs typeface="Trebuchet MS"/>
              </a:rPr>
              <a:t>/</a:t>
            </a:r>
            <a:r>
              <a:rPr sz="1050" b="1" spc="35" dirty="0">
                <a:latin typeface="Trebuchet MS"/>
                <a:cs typeface="Trebuchet MS"/>
              </a:rPr>
              <a:t> </a:t>
            </a:r>
            <a:r>
              <a:rPr sz="1050" b="1" spc="85" dirty="0">
                <a:latin typeface="Trebuchet MS"/>
                <a:cs typeface="Trebuchet MS"/>
              </a:rPr>
              <a:t>Reference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02429" y="1400809"/>
            <a:ext cx="13792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95" dirty="0">
                <a:latin typeface="Trebuchet MS"/>
                <a:cs typeface="Trebuchet MS"/>
              </a:rPr>
              <a:t>Technique</a:t>
            </a:r>
            <a:r>
              <a:rPr sz="1050" b="1" spc="45" dirty="0">
                <a:latin typeface="Trebuchet MS"/>
                <a:cs typeface="Trebuchet MS"/>
              </a:rPr>
              <a:t> </a:t>
            </a:r>
            <a:r>
              <a:rPr sz="1050" b="1" dirty="0">
                <a:latin typeface="Trebuchet MS"/>
                <a:cs typeface="Trebuchet MS"/>
              </a:rPr>
              <a:t>/</a:t>
            </a:r>
            <a:r>
              <a:rPr sz="1050" b="1" spc="45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Focus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66280" y="1400809"/>
            <a:ext cx="277431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125" dirty="0">
                <a:latin typeface="Trebuchet MS"/>
                <a:cs typeface="Trebuchet MS"/>
              </a:rPr>
              <a:t>Key</a:t>
            </a:r>
            <a:r>
              <a:rPr sz="1050" b="1" spc="45" dirty="0">
                <a:latin typeface="Trebuchet MS"/>
                <a:cs typeface="Trebuchet MS"/>
              </a:rPr>
              <a:t> </a:t>
            </a:r>
            <a:r>
              <a:rPr sz="1050" b="1" spc="110" dirty="0">
                <a:latin typeface="Trebuchet MS"/>
                <a:cs typeface="Trebuchet MS"/>
              </a:rPr>
              <a:t>Finding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dirty="0">
                <a:latin typeface="Trebuchet MS"/>
                <a:cs typeface="Trebuchet MS"/>
              </a:rPr>
              <a:t>/</a:t>
            </a:r>
            <a:r>
              <a:rPr sz="1050" b="1" spc="45" dirty="0">
                <a:latin typeface="Trebuchet MS"/>
                <a:cs typeface="Trebuchet MS"/>
              </a:rPr>
              <a:t> </a:t>
            </a:r>
            <a:r>
              <a:rPr sz="1050" b="1" spc="105" dirty="0">
                <a:latin typeface="Trebuchet MS"/>
                <a:cs typeface="Trebuchet MS"/>
              </a:rPr>
              <a:t>Relevance</a:t>
            </a:r>
            <a:r>
              <a:rPr sz="1050" b="1" spc="60" dirty="0">
                <a:latin typeface="Trebuchet MS"/>
                <a:cs typeface="Trebuchet MS"/>
              </a:rPr>
              <a:t> </a:t>
            </a:r>
            <a:r>
              <a:rPr sz="1050" b="1" spc="100" dirty="0">
                <a:latin typeface="Trebuchet MS"/>
                <a:cs typeface="Trebuchet MS"/>
              </a:rPr>
              <a:t>to</a:t>
            </a:r>
            <a:r>
              <a:rPr sz="1050" b="1" spc="55" dirty="0">
                <a:latin typeface="Trebuchet MS"/>
                <a:cs typeface="Trebuchet MS"/>
              </a:rPr>
              <a:t> </a:t>
            </a:r>
            <a:r>
              <a:rPr sz="1050" b="1" spc="140" dirty="0">
                <a:latin typeface="Trebuchet MS"/>
                <a:cs typeface="Trebuchet MS"/>
              </a:rPr>
              <a:t>AWSense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159490" y="1400809"/>
            <a:ext cx="3384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65" dirty="0">
                <a:latin typeface="Trebuchet MS"/>
                <a:cs typeface="Trebuchet MS"/>
              </a:rPr>
              <a:t>Link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7380" y="2443479"/>
            <a:ext cx="39624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90" dirty="0">
                <a:latin typeface="Trebuchet MS"/>
                <a:cs typeface="Trebuchet MS"/>
              </a:rPr>
              <a:t>2023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22400" y="2211070"/>
            <a:ext cx="2118995" cy="6515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 indent="635" algn="ctr">
              <a:lnSpc>
                <a:spcPct val="97100"/>
              </a:lnSpc>
              <a:spcBef>
                <a:spcPts val="135"/>
              </a:spcBef>
            </a:pPr>
            <a:r>
              <a:rPr sz="1050" dirty="0">
                <a:latin typeface="Trebuchet MS"/>
                <a:cs typeface="Trebuchet MS"/>
              </a:rPr>
              <a:t>Afif</a:t>
            </a:r>
            <a:r>
              <a:rPr sz="1050" spc="20" dirty="0">
                <a:latin typeface="Trebuchet MS"/>
                <a:cs typeface="Trebuchet MS"/>
              </a:rPr>
              <a:t> </a:t>
            </a:r>
            <a:r>
              <a:rPr sz="1050" spc="80" dirty="0">
                <a:latin typeface="Trebuchet MS"/>
                <a:cs typeface="Trebuchet MS"/>
              </a:rPr>
              <a:t>&amp;</a:t>
            </a:r>
            <a:r>
              <a:rPr sz="1050" spc="35" dirty="0">
                <a:latin typeface="Trebuchet MS"/>
                <a:cs typeface="Trebuchet MS"/>
              </a:rPr>
              <a:t> </a:t>
            </a:r>
            <a:r>
              <a:rPr sz="1050" spc="80" dirty="0">
                <a:latin typeface="Trebuchet MS"/>
                <a:cs typeface="Trebuchet MS"/>
              </a:rPr>
              <a:t>Meganendra</a:t>
            </a:r>
            <a:r>
              <a:rPr sz="1050" spc="25" dirty="0">
                <a:latin typeface="Trebuchet MS"/>
                <a:cs typeface="Trebuchet MS"/>
              </a:rPr>
              <a:t> </a:t>
            </a:r>
            <a:r>
              <a:rPr sz="1050" spc="135" dirty="0">
                <a:latin typeface="Trebuchet MS"/>
                <a:cs typeface="Trebuchet MS"/>
              </a:rPr>
              <a:t>–</a:t>
            </a:r>
            <a:r>
              <a:rPr sz="1050" spc="40" dirty="0">
                <a:latin typeface="Trebuchet MS"/>
                <a:cs typeface="Trebuchet MS"/>
              </a:rPr>
              <a:t> </a:t>
            </a:r>
            <a:r>
              <a:rPr sz="1050" i="1" spc="-10" dirty="0">
                <a:latin typeface="Trebuchet MS"/>
                <a:cs typeface="Trebuchet MS"/>
              </a:rPr>
              <a:t>Predictive </a:t>
            </a:r>
            <a:r>
              <a:rPr sz="1050" i="1" spc="60" dirty="0">
                <a:latin typeface="Trebuchet MS"/>
                <a:cs typeface="Trebuchet MS"/>
              </a:rPr>
              <a:t>Maintenance</a:t>
            </a:r>
            <a:r>
              <a:rPr sz="1050" i="1" spc="25" dirty="0">
                <a:latin typeface="Trebuchet MS"/>
                <a:cs typeface="Trebuchet MS"/>
              </a:rPr>
              <a:t> </a:t>
            </a:r>
            <a:r>
              <a:rPr sz="1050" i="1" dirty="0">
                <a:latin typeface="Trebuchet MS"/>
                <a:cs typeface="Trebuchet MS"/>
              </a:rPr>
              <a:t>for</a:t>
            </a:r>
            <a:r>
              <a:rPr sz="1050" i="1" spc="30" dirty="0">
                <a:latin typeface="Trebuchet MS"/>
                <a:cs typeface="Trebuchet MS"/>
              </a:rPr>
              <a:t> </a:t>
            </a:r>
            <a:r>
              <a:rPr sz="1050" i="1" spc="125" dirty="0">
                <a:latin typeface="Trebuchet MS"/>
                <a:cs typeface="Trebuchet MS"/>
              </a:rPr>
              <a:t>AWS</a:t>
            </a:r>
            <a:r>
              <a:rPr sz="1050" i="1" spc="25" dirty="0">
                <a:latin typeface="Trebuchet MS"/>
                <a:cs typeface="Trebuchet MS"/>
              </a:rPr>
              <a:t> </a:t>
            </a:r>
            <a:r>
              <a:rPr sz="1050" i="1" spc="90" dirty="0">
                <a:latin typeface="Trebuchet MS"/>
                <a:cs typeface="Trebuchet MS"/>
              </a:rPr>
              <a:t>Based</a:t>
            </a:r>
            <a:r>
              <a:rPr sz="1050" i="1" spc="35" dirty="0">
                <a:latin typeface="Trebuchet MS"/>
                <a:cs typeface="Trebuchet MS"/>
              </a:rPr>
              <a:t> </a:t>
            </a:r>
            <a:r>
              <a:rPr sz="1050" i="1" spc="55" dirty="0">
                <a:latin typeface="Trebuchet MS"/>
                <a:cs typeface="Trebuchet MS"/>
              </a:rPr>
              <a:t>on </a:t>
            </a:r>
            <a:r>
              <a:rPr sz="1050" i="1" spc="70" dirty="0">
                <a:latin typeface="Trebuchet MS"/>
                <a:cs typeface="Trebuchet MS"/>
              </a:rPr>
              <a:t>Anomaly</a:t>
            </a:r>
            <a:r>
              <a:rPr sz="1050" i="1" spc="55" dirty="0">
                <a:latin typeface="Trebuchet MS"/>
                <a:cs typeface="Trebuchet MS"/>
              </a:rPr>
              <a:t> </a:t>
            </a:r>
            <a:r>
              <a:rPr sz="1050" i="1" spc="45" dirty="0">
                <a:latin typeface="Trebuchet MS"/>
                <a:cs typeface="Trebuchet MS"/>
              </a:rPr>
              <a:t>Detection</a:t>
            </a:r>
            <a:r>
              <a:rPr sz="1050" i="1" spc="40" dirty="0">
                <a:latin typeface="Trebuchet MS"/>
                <a:cs typeface="Trebuchet MS"/>
              </a:rPr>
              <a:t> </a:t>
            </a:r>
            <a:r>
              <a:rPr sz="1050" i="1" spc="55" dirty="0">
                <a:latin typeface="Trebuchet MS"/>
                <a:cs typeface="Trebuchet MS"/>
              </a:rPr>
              <a:t>Using </a:t>
            </a:r>
            <a:r>
              <a:rPr sz="1050" i="1" spc="45" dirty="0">
                <a:latin typeface="Trebuchet MS"/>
                <a:cs typeface="Trebuchet MS"/>
              </a:rPr>
              <a:t>Autoencoder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31259" y="2443479"/>
            <a:ext cx="231965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55" dirty="0">
                <a:latin typeface="Trebuchet MS"/>
                <a:cs typeface="Trebuchet MS"/>
              </a:rPr>
              <a:t>Autoencoder</a:t>
            </a:r>
            <a:r>
              <a:rPr sz="1050" spc="40" dirty="0">
                <a:latin typeface="Trebuchet MS"/>
                <a:cs typeface="Trebuchet MS"/>
              </a:rPr>
              <a:t> </a:t>
            </a:r>
            <a:r>
              <a:rPr sz="1050" spc="320" dirty="0">
                <a:latin typeface="Trebuchet MS"/>
                <a:cs typeface="Trebuchet MS"/>
              </a:rPr>
              <a:t>+</a:t>
            </a:r>
            <a:r>
              <a:rPr sz="1050" spc="35" dirty="0">
                <a:latin typeface="Trebuchet MS"/>
                <a:cs typeface="Trebuchet MS"/>
              </a:rPr>
              <a:t> </a:t>
            </a:r>
            <a:r>
              <a:rPr sz="1050" spc="75" dirty="0">
                <a:latin typeface="Trebuchet MS"/>
                <a:cs typeface="Trebuchet MS"/>
              </a:rPr>
              <a:t>anomaly</a:t>
            </a:r>
            <a:r>
              <a:rPr sz="1050" spc="55" dirty="0">
                <a:latin typeface="Trebuchet MS"/>
                <a:cs typeface="Trebuchet MS"/>
              </a:rPr>
              <a:t> </a:t>
            </a:r>
            <a:r>
              <a:rPr sz="1050" spc="-10" dirty="0">
                <a:latin typeface="Trebuchet MS"/>
                <a:cs typeface="Trebuchet MS"/>
              </a:rPr>
              <a:t>detection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77609" y="2288540"/>
            <a:ext cx="4352290" cy="496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065" marR="5080" indent="-1270" algn="ctr">
              <a:lnSpc>
                <a:spcPct val="97200"/>
              </a:lnSpc>
              <a:spcBef>
                <a:spcPts val="135"/>
              </a:spcBef>
            </a:pPr>
            <a:r>
              <a:rPr sz="1050" spc="100" dirty="0">
                <a:latin typeface="Trebuchet MS"/>
                <a:cs typeface="Trebuchet MS"/>
              </a:rPr>
              <a:t>Shows</a:t>
            </a:r>
            <a:r>
              <a:rPr sz="1050" spc="50" dirty="0">
                <a:latin typeface="Trebuchet MS"/>
                <a:cs typeface="Trebuchet MS"/>
              </a:rPr>
              <a:t> </a:t>
            </a:r>
            <a:r>
              <a:rPr sz="1050" spc="75" dirty="0">
                <a:latin typeface="Trebuchet MS"/>
                <a:cs typeface="Trebuchet MS"/>
              </a:rPr>
              <a:t>how</a:t>
            </a:r>
            <a:r>
              <a:rPr sz="1050" spc="50" dirty="0">
                <a:latin typeface="Trebuchet MS"/>
                <a:cs typeface="Trebuchet MS"/>
              </a:rPr>
              <a:t> </a:t>
            </a:r>
            <a:r>
              <a:rPr sz="1050" spc="65" dirty="0">
                <a:latin typeface="Trebuchet MS"/>
                <a:cs typeface="Trebuchet MS"/>
              </a:rPr>
              <a:t>Autoencoders</a:t>
            </a:r>
            <a:r>
              <a:rPr sz="1050" spc="55" dirty="0">
                <a:latin typeface="Trebuchet MS"/>
                <a:cs typeface="Trebuchet MS"/>
              </a:rPr>
              <a:t> </a:t>
            </a:r>
            <a:r>
              <a:rPr sz="1050" dirty="0">
                <a:latin typeface="Trebuchet MS"/>
                <a:cs typeface="Trebuchet MS"/>
              </a:rPr>
              <a:t>detect</a:t>
            </a:r>
            <a:r>
              <a:rPr sz="1050" spc="45" dirty="0">
                <a:latin typeface="Trebuchet MS"/>
                <a:cs typeface="Trebuchet MS"/>
              </a:rPr>
              <a:t> </a:t>
            </a:r>
            <a:r>
              <a:rPr sz="1050" spc="65" dirty="0">
                <a:latin typeface="Trebuchet MS"/>
                <a:cs typeface="Trebuchet MS"/>
              </a:rPr>
              <a:t>abnormal</a:t>
            </a:r>
            <a:r>
              <a:rPr sz="1050" spc="60" dirty="0">
                <a:latin typeface="Trebuchet MS"/>
                <a:cs typeface="Trebuchet MS"/>
              </a:rPr>
              <a:t> </a:t>
            </a:r>
            <a:r>
              <a:rPr sz="1050" spc="125" dirty="0">
                <a:latin typeface="Trebuchet MS"/>
                <a:cs typeface="Trebuchet MS"/>
              </a:rPr>
              <a:t>AWS</a:t>
            </a:r>
            <a:r>
              <a:rPr sz="1050" spc="55" dirty="0">
                <a:latin typeface="Trebuchet MS"/>
                <a:cs typeface="Trebuchet MS"/>
              </a:rPr>
              <a:t> </a:t>
            </a:r>
            <a:r>
              <a:rPr sz="1050" spc="70" dirty="0">
                <a:latin typeface="Trebuchet MS"/>
                <a:cs typeface="Trebuchet MS"/>
              </a:rPr>
              <a:t>readings</a:t>
            </a:r>
            <a:r>
              <a:rPr sz="1050" spc="55" dirty="0">
                <a:latin typeface="Trebuchet MS"/>
                <a:cs typeface="Trebuchet MS"/>
              </a:rPr>
              <a:t> </a:t>
            </a:r>
            <a:r>
              <a:rPr sz="1050" spc="-25" dirty="0">
                <a:latin typeface="Trebuchet MS"/>
                <a:cs typeface="Trebuchet MS"/>
              </a:rPr>
              <a:t>to </a:t>
            </a:r>
            <a:r>
              <a:rPr sz="1050" spc="55" dirty="0">
                <a:latin typeface="Trebuchet MS"/>
                <a:cs typeface="Trebuchet MS"/>
              </a:rPr>
              <a:t>support</a:t>
            </a:r>
            <a:r>
              <a:rPr sz="1050" spc="130" dirty="0">
                <a:latin typeface="Trebuchet MS"/>
                <a:cs typeface="Trebuchet MS"/>
              </a:rPr>
              <a:t> </a:t>
            </a:r>
            <a:r>
              <a:rPr sz="1050" spc="10" dirty="0">
                <a:latin typeface="Trebuchet MS"/>
                <a:cs typeface="Trebuchet MS"/>
              </a:rPr>
              <a:t>predictive</a:t>
            </a:r>
            <a:r>
              <a:rPr sz="1050" spc="135" dirty="0">
                <a:latin typeface="Trebuchet MS"/>
                <a:cs typeface="Trebuchet MS"/>
              </a:rPr>
              <a:t> </a:t>
            </a:r>
            <a:r>
              <a:rPr sz="1050" spc="50" dirty="0">
                <a:latin typeface="Trebuchet MS"/>
                <a:cs typeface="Trebuchet MS"/>
              </a:rPr>
              <a:t>maintenance.</a:t>
            </a:r>
            <a:r>
              <a:rPr sz="1050" spc="125" dirty="0">
                <a:latin typeface="Trebuchet MS"/>
                <a:cs typeface="Trebuchet MS"/>
              </a:rPr>
              <a:t> </a:t>
            </a:r>
            <a:r>
              <a:rPr sz="1050" spc="10" dirty="0">
                <a:latin typeface="Trebuchet MS"/>
                <a:cs typeface="Trebuchet MS"/>
              </a:rPr>
              <a:t>Directly</a:t>
            </a:r>
            <a:r>
              <a:rPr sz="1050" spc="130" dirty="0">
                <a:latin typeface="Trebuchet MS"/>
                <a:cs typeface="Trebuchet MS"/>
              </a:rPr>
              <a:t> </a:t>
            </a:r>
            <a:r>
              <a:rPr sz="1050" spc="75" dirty="0">
                <a:latin typeface="Trebuchet MS"/>
                <a:cs typeface="Trebuchet MS"/>
              </a:rPr>
              <a:t>backs</a:t>
            </a:r>
            <a:r>
              <a:rPr sz="1050" spc="130" dirty="0">
                <a:latin typeface="Trebuchet MS"/>
                <a:cs typeface="Trebuchet MS"/>
              </a:rPr>
              <a:t> </a:t>
            </a:r>
            <a:r>
              <a:rPr sz="1050" spc="10" dirty="0">
                <a:latin typeface="Trebuchet MS"/>
                <a:cs typeface="Trebuchet MS"/>
              </a:rPr>
              <a:t>the</a:t>
            </a:r>
            <a:r>
              <a:rPr sz="1050" spc="125" dirty="0">
                <a:latin typeface="Trebuchet MS"/>
                <a:cs typeface="Trebuchet MS"/>
              </a:rPr>
              <a:t> </a:t>
            </a:r>
            <a:r>
              <a:rPr sz="1050" spc="100" dirty="0">
                <a:latin typeface="Trebuchet MS"/>
                <a:cs typeface="Trebuchet MS"/>
              </a:rPr>
              <a:t>AWSense</a:t>
            </a:r>
            <a:r>
              <a:rPr sz="1050" spc="135" dirty="0">
                <a:latin typeface="Trebuchet MS"/>
                <a:cs typeface="Trebuchet MS"/>
              </a:rPr>
              <a:t> </a:t>
            </a:r>
            <a:r>
              <a:rPr sz="1050" spc="70" dirty="0">
                <a:latin typeface="Trebuchet MS"/>
                <a:cs typeface="Trebuchet MS"/>
              </a:rPr>
              <a:t>ML </a:t>
            </a:r>
            <a:r>
              <a:rPr sz="1050" spc="40" dirty="0">
                <a:latin typeface="Trebuchet MS"/>
                <a:cs typeface="Trebuchet MS"/>
              </a:rPr>
              <a:t>approach.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178540" y="2443479"/>
            <a:ext cx="2997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u="sng" spc="55" dirty="0">
                <a:solidFill>
                  <a:srgbClr val="00007F"/>
                </a:solidFill>
                <a:uFill>
                  <a:solidFill>
                    <a:srgbClr val="00007F"/>
                  </a:solidFill>
                </a:uFill>
                <a:latin typeface="Trebuchet MS"/>
                <a:cs typeface="Trebuchet MS"/>
                <a:hlinkClick r:id="rId2"/>
              </a:rPr>
              <a:t>link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15409" y="3657600"/>
            <a:ext cx="195262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55" dirty="0">
                <a:latin typeface="Trebuchet MS"/>
                <a:cs typeface="Trebuchet MS"/>
              </a:rPr>
              <a:t>ML-</a:t>
            </a:r>
            <a:r>
              <a:rPr sz="1050" spc="80" dirty="0">
                <a:latin typeface="Trebuchet MS"/>
                <a:cs typeface="Trebuchet MS"/>
              </a:rPr>
              <a:t>based</a:t>
            </a:r>
            <a:r>
              <a:rPr sz="1050" spc="30" dirty="0">
                <a:latin typeface="Trebuchet MS"/>
                <a:cs typeface="Trebuchet MS"/>
              </a:rPr>
              <a:t> </a:t>
            </a:r>
            <a:r>
              <a:rPr sz="1050" spc="75" dirty="0">
                <a:latin typeface="Trebuchet MS"/>
                <a:cs typeface="Trebuchet MS"/>
              </a:rPr>
              <a:t>anomaly</a:t>
            </a:r>
            <a:r>
              <a:rPr sz="1050" spc="50" dirty="0">
                <a:latin typeface="Trebuchet MS"/>
                <a:cs typeface="Trebuchet MS"/>
              </a:rPr>
              <a:t> </a:t>
            </a:r>
            <a:r>
              <a:rPr sz="1050" spc="-10" dirty="0">
                <a:latin typeface="Trebuchet MS"/>
                <a:cs typeface="Trebuchet MS"/>
              </a:rPr>
              <a:t>detection</a:t>
            </a:r>
            <a:endParaRPr sz="10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96990" y="3735070"/>
            <a:ext cx="4113529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70" dirty="0">
                <a:latin typeface="Trebuchet MS"/>
                <a:cs typeface="Trebuchet MS"/>
              </a:rPr>
              <a:t>unsupervised</a:t>
            </a:r>
            <a:r>
              <a:rPr sz="1050" spc="55" dirty="0">
                <a:latin typeface="Trebuchet MS"/>
                <a:cs typeface="Trebuchet MS"/>
              </a:rPr>
              <a:t> </a:t>
            </a:r>
            <a:r>
              <a:rPr sz="1050" spc="60" dirty="0">
                <a:latin typeface="Trebuchet MS"/>
                <a:cs typeface="Trebuchet MS"/>
              </a:rPr>
              <a:t>approaches,</a:t>
            </a:r>
            <a:r>
              <a:rPr sz="1050" spc="55" dirty="0">
                <a:latin typeface="Trebuchet MS"/>
                <a:cs typeface="Trebuchet MS"/>
              </a:rPr>
              <a:t> </a:t>
            </a:r>
            <a:r>
              <a:rPr sz="1050" spc="60" dirty="0">
                <a:latin typeface="Trebuchet MS"/>
                <a:cs typeface="Trebuchet MS"/>
              </a:rPr>
              <a:t>supporting </a:t>
            </a:r>
            <a:r>
              <a:rPr sz="1050" dirty="0">
                <a:latin typeface="Trebuchet MS"/>
                <a:cs typeface="Trebuchet MS"/>
              </a:rPr>
              <a:t>the</a:t>
            </a:r>
            <a:r>
              <a:rPr sz="1050" spc="70" dirty="0">
                <a:latin typeface="Trebuchet MS"/>
                <a:cs typeface="Trebuchet MS"/>
              </a:rPr>
              <a:t> </a:t>
            </a:r>
            <a:r>
              <a:rPr sz="1050" spc="100" dirty="0">
                <a:latin typeface="Trebuchet MS"/>
                <a:cs typeface="Trebuchet MS"/>
              </a:rPr>
              <a:t>AWSense</a:t>
            </a:r>
            <a:r>
              <a:rPr sz="1050" spc="55" dirty="0">
                <a:latin typeface="Trebuchet MS"/>
                <a:cs typeface="Trebuchet MS"/>
              </a:rPr>
              <a:t> </a:t>
            </a:r>
            <a:r>
              <a:rPr sz="1050" spc="35" dirty="0">
                <a:latin typeface="Trebuchet MS"/>
                <a:cs typeface="Trebuchet MS"/>
              </a:rPr>
              <a:t>strategy.</a:t>
            </a:r>
            <a:endParaRPr sz="1050">
              <a:latin typeface="Trebuchet MS"/>
              <a:cs typeface="Trebuchet MS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247650" y="3524931"/>
          <a:ext cx="11737974" cy="19460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9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8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30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7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56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9880">
                <a:tc>
                  <a:txBody>
                    <a:bodyPr/>
                    <a:lstStyle/>
                    <a:p>
                      <a:pPr marR="198120" algn="r">
                        <a:lnSpc>
                          <a:spcPts val="1200"/>
                        </a:lnSpc>
                        <a:spcBef>
                          <a:spcPts val="1145"/>
                        </a:spcBef>
                      </a:pPr>
                      <a:r>
                        <a:rPr sz="1050" b="1" spc="90" dirty="0">
                          <a:latin typeface="Trebuchet MS"/>
                          <a:cs typeface="Trebuchet MS"/>
                        </a:rPr>
                        <a:t>2021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45415" marB="0"/>
                </a:tc>
                <a:tc>
                  <a:txBody>
                    <a:bodyPr/>
                    <a:lstStyle/>
                    <a:p>
                      <a:pPr marL="73025" algn="ctr">
                        <a:lnSpc>
                          <a:spcPts val="1165"/>
                        </a:lnSpc>
                      </a:pPr>
                      <a:r>
                        <a:rPr sz="1050" spc="60" dirty="0">
                          <a:latin typeface="Trebuchet MS"/>
                          <a:cs typeface="Trebuchet MS"/>
                        </a:rPr>
                        <a:t>Nassif</a:t>
                      </a:r>
                      <a:r>
                        <a:rPr sz="105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et</a:t>
                      </a:r>
                      <a:r>
                        <a:rPr sz="1050" spc="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al.</a:t>
                      </a:r>
                      <a:r>
                        <a:rPr sz="1050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135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050" spc="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i="1" spc="65" dirty="0">
                          <a:latin typeface="Trebuchet MS"/>
                          <a:cs typeface="Trebuchet MS"/>
                        </a:rPr>
                        <a:t>Machine</a:t>
                      </a:r>
                      <a:r>
                        <a:rPr sz="1050" i="1" spc="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i="1" spc="45" dirty="0">
                          <a:latin typeface="Trebuchet MS"/>
                          <a:cs typeface="Trebuchet MS"/>
                        </a:rPr>
                        <a:t>Learning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  <a:p>
                      <a:pPr marL="73660" algn="ctr">
                        <a:lnSpc>
                          <a:spcPts val="1180"/>
                        </a:lnSpc>
                      </a:pPr>
                      <a:r>
                        <a:rPr sz="1050" i="1" spc="10" dirty="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1050" i="1" spc="114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i="1" spc="70" dirty="0">
                          <a:latin typeface="Trebuchet MS"/>
                          <a:cs typeface="Trebuchet MS"/>
                        </a:rPr>
                        <a:t>Anomaly</a:t>
                      </a:r>
                      <a:r>
                        <a:rPr sz="1050" i="1" spc="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i="1" spc="10" dirty="0">
                          <a:latin typeface="Trebuchet MS"/>
                          <a:cs typeface="Trebuchet MS"/>
                        </a:rPr>
                        <a:t>Detection:</a:t>
                      </a:r>
                      <a:r>
                        <a:rPr sz="1050" i="1" spc="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i="1" spc="25" dirty="0">
                          <a:latin typeface="Trebuchet MS"/>
                          <a:cs typeface="Trebuchet MS"/>
                        </a:rPr>
                        <a:t>A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93116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050" spc="70" dirty="0">
                          <a:latin typeface="Trebuchet MS"/>
                          <a:cs typeface="Trebuchet MS"/>
                        </a:rPr>
                        <a:t>Reviews</a:t>
                      </a:r>
                      <a:r>
                        <a:rPr sz="105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95" dirty="0">
                          <a:latin typeface="Trebuchet MS"/>
                          <a:cs typeface="Trebuchet MS"/>
                        </a:rPr>
                        <a:t>ML</a:t>
                      </a:r>
                      <a:r>
                        <a:rPr sz="105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65" dirty="0">
                          <a:latin typeface="Trebuchet MS"/>
                          <a:cs typeface="Trebuchet MS"/>
                        </a:rPr>
                        <a:t>anomaly-</a:t>
                      </a:r>
                      <a:r>
                        <a:rPr sz="1050" spc="10" dirty="0">
                          <a:latin typeface="Trebuchet MS"/>
                          <a:cs typeface="Trebuchet MS"/>
                        </a:rPr>
                        <a:t>detection</a:t>
                      </a:r>
                      <a:r>
                        <a:rPr sz="105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75" dirty="0">
                          <a:latin typeface="Trebuchet MS"/>
                          <a:cs typeface="Trebuchet MS"/>
                        </a:rPr>
                        <a:t>methods</a:t>
                      </a:r>
                      <a:r>
                        <a:rPr sz="1050" spc="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8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05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45" dirty="0">
                          <a:latin typeface="Trebuchet MS"/>
                          <a:cs typeface="Trebuchet MS"/>
                        </a:rPr>
                        <a:t>highlights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67945" marB="0"/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110"/>
                        </a:lnSpc>
                        <a:spcBef>
                          <a:spcPts val="1115"/>
                        </a:spcBef>
                      </a:pPr>
                      <a:r>
                        <a:rPr sz="1100" spc="-20" dirty="0">
                          <a:solidFill>
                            <a:srgbClr val="00007F"/>
                          </a:solidFill>
                          <a:latin typeface="Trebuchet MS"/>
                          <a:cs typeface="Trebuchet MS"/>
                          <a:hlinkClick r:id="rId3"/>
                        </a:rPr>
                        <a:t>link</a:t>
                      </a:r>
                      <a:endParaRPr sz="1100">
                        <a:latin typeface="Trebuchet MS"/>
                        <a:cs typeface="Trebuchet MS"/>
                      </a:endParaRPr>
                    </a:p>
                  </a:txBody>
                  <a:tcPr marL="0" marR="0" marT="141605" marB="0">
                    <a:lnB w="9525">
                      <a:solidFill>
                        <a:srgbClr val="00007F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175">
                      <a:solidFill>
                        <a:srgbClr val="35373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8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175">
                      <a:solidFill>
                        <a:srgbClr val="3537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algn="ctr">
                        <a:lnSpc>
                          <a:spcPts val="1190"/>
                        </a:lnSpc>
                      </a:pPr>
                      <a:r>
                        <a:rPr sz="1050" i="1" spc="65" dirty="0">
                          <a:latin typeface="Trebuchet MS"/>
                          <a:cs typeface="Trebuchet MS"/>
                        </a:rPr>
                        <a:t>Systematic</a:t>
                      </a:r>
                      <a:r>
                        <a:rPr sz="1050" i="1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i="1" spc="55" dirty="0">
                          <a:latin typeface="Trebuchet MS"/>
                          <a:cs typeface="Trebuchet MS"/>
                        </a:rPr>
                        <a:t>Review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3175">
                      <a:solidFill>
                        <a:srgbClr val="3537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175">
                      <a:solidFill>
                        <a:srgbClr val="3537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9525">
                      <a:solidFill>
                        <a:srgbClr val="00007F"/>
                      </a:solidFill>
                      <a:prstDash val="solid"/>
                    </a:lnT>
                    <a:lnB w="3175">
                      <a:solidFill>
                        <a:srgbClr val="35373F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B w="3175">
                      <a:solidFill>
                        <a:srgbClr val="35373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R="198120" algn="r">
                        <a:lnSpc>
                          <a:spcPts val="1195"/>
                        </a:lnSpc>
                      </a:pPr>
                      <a:r>
                        <a:rPr sz="1050" b="1" spc="90" dirty="0">
                          <a:latin typeface="Trebuchet MS"/>
                          <a:cs typeface="Trebuchet MS"/>
                        </a:rPr>
                        <a:t>2021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16205" marB="0">
                    <a:lnT w="3175">
                      <a:solidFill>
                        <a:srgbClr val="35373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43840" marR="162560" indent="182880">
                        <a:lnSpc>
                          <a:spcPts val="1230"/>
                        </a:lnSpc>
                        <a:spcBef>
                          <a:spcPts val="860"/>
                        </a:spcBef>
                      </a:pPr>
                      <a:r>
                        <a:rPr sz="1050" spc="70" dirty="0">
                          <a:latin typeface="Trebuchet MS"/>
                          <a:cs typeface="Trebuchet MS"/>
                        </a:rPr>
                        <a:t>Ioannou</a:t>
                      </a:r>
                      <a:r>
                        <a:rPr sz="105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et</a:t>
                      </a:r>
                      <a:r>
                        <a:rPr sz="1050" spc="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al.</a:t>
                      </a:r>
                      <a:r>
                        <a:rPr sz="1050" spc="7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135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050" spc="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i="1" dirty="0">
                          <a:latin typeface="Trebuchet MS"/>
                          <a:cs typeface="Trebuchet MS"/>
                        </a:rPr>
                        <a:t>Low-</a:t>
                      </a:r>
                      <a:r>
                        <a:rPr sz="1050" i="1" spc="45" dirty="0">
                          <a:latin typeface="Trebuchet MS"/>
                          <a:cs typeface="Trebuchet MS"/>
                        </a:rPr>
                        <a:t>Cost Automatic </a:t>
                      </a:r>
                      <a:r>
                        <a:rPr sz="1050" i="1" spc="55" dirty="0">
                          <a:latin typeface="Trebuchet MS"/>
                          <a:cs typeface="Trebuchet MS"/>
                        </a:rPr>
                        <a:t>Weather</a:t>
                      </a:r>
                      <a:r>
                        <a:rPr sz="1050" i="1" spc="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i="1" spc="50" dirty="0">
                          <a:latin typeface="Trebuchet MS"/>
                          <a:cs typeface="Trebuchet MS"/>
                        </a:rPr>
                        <a:t>Stations</a:t>
                      </a:r>
                      <a:r>
                        <a:rPr sz="1050" i="1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i="1" spc="-25" dirty="0">
                          <a:latin typeface="Trebuchet MS"/>
                          <a:cs typeface="Trebuchet MS"/>
                        </a:rPr>
                        <a:t>in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09220" marB="0">
                    <a:lnT w="3175">
                      <a:solidFill>
                        <a:srgbClr val="35373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276860">
                        <a:lnSpc>
                          <a:spcPts val="1245"/>
                        </a:lnSpc>
                        <a:tabLst>
                          <a:tab pos="2689860" algn="l"/>
                        </a:tabLst>
                      </a:pPr>
                      <a:r>
                        <a:rPr sz="1575" spc="187" baseline="-31746" dirty="0">
                          <a:latin typeface="Trebuchet MS"/>
                          <a:cs typeface="Trebuchet MS"/>
                        </a:rPr>
                        <a:t>AWS</a:t>
                      </a:r>
                      <a:r>
                        <a:rPr sz="1575" spc="75" baseline="-31746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75" spc="480" baseline="-31746" dirty="0"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1575" spc="60" baseline="-31746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75" baseline="-31746" dirty="0">
                          <a:latin typeface="Trebuchet MS"/>
                          <a:cs typeface="Trebuchet MS"/>
                        </a:rPr>
                        <a:t>IoT</a:t>
                      </a:r>
                      <a:r>
                        <a:rPr sz="1575" spc="67" baseline="-31746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75" spc="480" baseline="-31746" dirty="0"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1575" spc="60" baseline="-31746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75" spc="127" baseline="-31746" dirty="0">
                          <a:latin typeface="Trebuchet MS"/>
                          <a:cs typeface="Trebuchet MS"/>
                        </a:rPr>
                        <a:t>Deep</a:t>
                      </a:r>
                      <a:r>
                        <a:rPr sz="1575" spc="60" baseline="-31746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75" spc="75" baseline="-31746" dirty="0">
                          <a:latin typeface="Trebuchet MS"/>
                          <a:cs typeface="Trebuchet MS"/>
                        </a:rPr>
                        <a:t>Learning</a:t>
                      </a:r>
                      <a:r>
                        <a:rPr sz="1575" baseline="-31746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1050" spc="70" dirty="0">
                          <a:latin typeface="Trebuchet MS"/>
                          <a:cs typeface="Trebuchet MS"/>
                        </a:rPr>
                        <a:t>Demonstrates</a:t>
                      </a:r>
                      <a:r>
                        <a:rPr sz="105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75" dirty="0">
                          <a:latin typeface="Trebuchet MS"/>
                          <a:cs typeface="Trebuchet MS"/>
                        </a:rPr>
                        <a:t>how</a:t>
                      </a:r>
                      <a:r>
                        <a:rPr sz="1050" spc="10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125" dirty="0">
                          <a:latin typeface="Trebuchet MS"/>
                          <a:cs typeface="Trebuchet MS"/>
                        </a:rPr>
                        <a:t>AWS</a:t>
                      </a:r>
                      <a:r>
                        <a:rPr sz="105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90" dirty="0">
                          <a:latin typeface="Trebuchet MS"/>
                          <a:cs typeface="Trebuchet MS"/>
                        </a:rPr>
                        <a:t>systems</a:t>
                      </a:r>
                      <a:r>
                        <a:rPr sz="105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85" dirty="0">
                          <a:latin typeface="Trebuchet MS"/>
                          <a:cs typeface="Trebuchet MS"/>
                        </a:rPr>
                        <a:t>use</a:t>
                      </a:r>
                      <a:r>
                        <a:rPr sz="105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IoT,</a:t>
                      </a:r>
                      <a:r>
                        <a:rPr sz="105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real-time</a:t>
                      </a:r>
                      <a:r>
                        <a:rPr sz="1050" spc="9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data,</a:t>
                      </a:r>
                      <a:r>
                        <a:rPr sz="1050" spc="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60" dirty="0">
                          <a:latin typeface="Trebuchet MS"/>
                          <a:cs typeface="Trebuchet MS"/>
                        </a:rPr>
                        <a:t>edge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  <a:p>
                      <a:pPr marL="2843530">
                        <a:lnSpc>
                          <a:spcPts val="570"/>
                        </a:lnSpc>
                      </a:pPr>
                      <a:r>
                        <a:rPr sz="1050" spc="55" dirty="0">
                          <a:latin typeface="Trebuchet MS"/>
                          <a:cs typeface="Trebuchet MS"/>
                        </a:rPr>
                        <a:t>computing,</a:t>
                      </a:r>
                      <a:r>
                        <a:rPr sz="105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8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05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AI/Deep</a:t>
                      </a:r>
                      <a:r>
                        <a:rPr sz="105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60" dirty="0">
                          <a:latin typeface="Trebuchet MS"/>
                          <a:cs typeface="Trebuchet MS"/>
                        </a:rPr>
                        <a:t>Learning</a:t>
                      </a:r>
                      <a:r>
                        <a:rPr sz="1050" spc="7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for</a:t>
                      </a:r>
                      <a:r>
                        <a:rPr sz="1050" spc="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50" dirty="0">
                          <a:latin typeface="Trebuchet MS"/>
                          <a:cs typeface="Trebuchet MS"/>
                        </a:rPr>
                        <a:t>weather</a:t>
                      </a:r>
                      <a:r>
                        <a:rPr sz="105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35" dirty="0">
                          <a:latin typeface="Trebuchet MS"/>
                          <a:cs typeface="Trebuchet MS"/>
                        </a:rPr>
                        <a:t>monitoring.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37465" marB="0">
                    <a:lnT w="3175">
                      <a:solidFill>
                        <a:srgbClr val="35373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050" b="1" u="sng" spc="55" dirty="0">
                          <a:solidFill>
                            <a:srgbClr val="00007F"/>
                          </a:solidFill>
                          <a:uFill>
                            <a:solidFill>
                              <a:srgbClr val="00007F"/>
                            </a:solidFill>
                          </a:uFill>
                          <a:latin typeface="Trebuchet MS"/>
                          <a:cs typeface="Trebuchet MS"/>
                          <a:hlinkClick r:id="rId4"/>
                        </a:rPr>
                        <a:t>link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16205" marB="0">
                    <a:lnT w="3175">
                      <a:solidFill>
                        <a:srgbClr val="35373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175">
                      <a:solidFill>
                        <a:srgbClr val="35373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8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175">
                      <a:solidFill>
                        <a:srgbClr val="3537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 algn="ctr">
                        <a:lnSpc>
                          <a:spcPts val="1185"/>
                        </a:lnSpc>
                      </a:pPr>
                      <a:r>
                        <a:rPr sz="1050" i="1" dirty="0"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050" i="1" spc="1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i="1" dirty="0">
                          <a:latin typeface="Trebuchet MS"/>
                          <a:cs typeface="Trebuchet MS"/>
                        </a:rPr>
                        <a:t>Internet</a:t>
                      </a:r>
                      <a:r>
                        <a:rPr sz="1050" i="1" spc="1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i="1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050" i="1" spc="1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i="1" spc="50" dirty="0">
                          <a:latin typeface="Trebuchet MS"/>
                          <a:cs typeface="Trebuchet MS"/>
                        </a:rPr>
                        <a:t>Things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0" marB="0">
                    <a:lnB w="3175">
                      <a:solidFill>
                        <a:srgbClr val="3537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175">
                      <a:solidFill>
                        <a:srgbClr val="3537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175">
                      <a:solidFill>
                        <a:srgbClr val="3537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3175">
                      <a:solidFill>
                        <a:srgbClr val="35373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R="198120" algn="r">
                        <a:lnSpc>
                          <a:spcPts val="1195"/>
                        </a:lnSpc>
                      </a:pPr>
                      <a:r>
                        <a:rPr sz="1050" b="1" spc="90" dirty="0">
                          <a:latin typeface="Trebuchet MS"/>
                          <a:cs typeface="Trebuchet MS"/>
                        </a:rPr>
                        <a:t>2021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21285" marB="0">
                    <a:lnT w="3175">
                      <a:solidFill>
                        <a:srgbClr val="35373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10540" marR="297180" indent="-132080">
                        <a:lnSpc>
                          <a:spcPts val="1230"/>
                        </a:lnSpc>
                        <a:spcBef>
                          <a:spcPts val="900"/>
                        </a:spcBef>
                      </a:pPr>
                      <a:r>
                        <a:rPr sz="1050" spc="65" dirty="0">
                          <a:latin typeface="Trebuchet MS"/>
                          <a:cs typeface="Trebuchet MS"/>
                        </a:rPr>
                        <a:t>Davari</a:t>
                      </a:r>
                      <a:r>
                        <a:rPr sz="1050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et</a:t>
                      </a:r>
                      <a:r>
                        <a:rPr sz="105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dirty="0">
                          <a:latin typeface="Trebuchet MS"/>
                          <a:cs typeface="Trebuchet MS"/>
                        </a:rPr>
                        <a:t>al.</a:t>
                      </a:r>
                      <a:r>
                        <a:rPr sz="1050" spc="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135" dirty="0">
                          <a:latin typeface="Trebuchet MS"/>
                          <a:cs typeface="Trebuchet MS"/>
                        </a:rPr>
                        <a:t>–</a:t>
                      </a:r>
                      <a:r>
                        <a:rPr sz="1050" spc="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i="1" spc="75" dirty="0">
                          <a:latin typeface="Trebuchet MS"/>
                          <a:cs typeface="Trebuchet MS"/>
                        </a:rPr>
                        <a:t>A</a:t>
                      </a:r>
                      <a:r>
                        <a:rPr sz="1050" i="1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i="1" spc="85" dirty="0">
                          <a:latin typeface="Trebuchet MS"/>
                          <a:cs typeface="Trebuchet MS"/>
                        </a:rPr>
                        <a:t>Survey</a:t>
                      </a:r>
                      <a:r>
                        <a:rPr sz="1050" i="1" spc="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i="1" spc="55" dirty="0">
                          <a:latin typeface="Trebuchet MS"/>
                          <a:cs typeface="Trebuchet MS"/>
                        </a:rPr>
                        <a:t>on </a:t>
                      </a:r>
                      <a:r>
                        <a:rPr sz="1050" i="1" spc="50" dirty="0">
                          <a:latin typeface="Trebuchet MS"/>
                          <a:cs typeface="Trebuchet MS"/>
                        </a:rPr>
                        <a:t>Data-</a:t>
                      </a:r>
                      <a:r>
                        <a:rPr sz="1050" i="1" spc="60" dirty="0">
                          <a:latin typeface="Trebuchet MS"/>
                          <a:cs typeface="Trebuchet MS"/>
                        </a:rPr>
                        <a:t>Driven</a:t>
                      </a:r>
                      <a:r>
                        <a:rPr sz="1050" i="1" spc="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i="1" spc="-10" dirty="0">
                          <a:latin typeface="Trebuchet MS"/>
                          <a:cs typeface="Trebuchet MS"/>
                        </a:rPr>
                        <a:t>Predictive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14300" marB="0">
                    <a:lnT w="3175">
                      <a:solidFill>
                        <a:srgbClr val="35373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132080">
                        <a:lnSpc>
                          <a:spcPts val="1245"/>
                        </a:lnSpc>
                        <a:tabLst>
                          <a:tab pos="2860040" algn="l"/>
                        </a:tabLst>
                      </a:pPr>
                      <a:r>
                        <a:rPr sz="1575" spc="15" baseline="-31746" dirty="0">
                          <a:latin typeface="Trebuchet MS"/>
                          <a:cs typeface="Trebuchet MS"/>
                        </a:rPr>
                        <a:t>ML/DL</a:t>
                      </a:r>
                      <a:r>
                        <a:rPr sz="1575" spc="217" baseline="-31746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75" spc="480" baseline="-31746" dirty="0">
                          <a:latin typeface="Trebuchet MS"/>
                          <a:cs typeface="Trebuchet MS"/>
                        </a:rPr>
                        <a:t>+</a:t>
                      </a:r>
                      <a:r>
                        <a:rPr sz="1575" spc="217" baseline="-31746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75" spc="15" baseline="-31746" dirty="0">
                          <a:latin typeface="Trebuchet MS"/>
                          <a:cs typeface="Trebuchet MS"/>
                        </a:rPr>
                        <a:t>Predictive</a:t>
                      </a:r>
                      <a:r>
                        <a:rPr sz="1575" spc="247" baseline="-31746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575" spc="82" baseline="-31746" dirty="0">
                          <a:latin typeface="Trebuchet MS"/>
                          <a:cs typeface="Trebuchet MS"/>
                        </a:rPr>
                        <a:t>Maintenance</a:t>
                      </a:r>
                      <a:r>
                        <a:rPr sz="1575" baseline="-31746" dirty="0">
                          <a:latin typeface="Trebuchet MS"/>
                          <a:cs typeface="Trebuchet MS"/>
                        </a:rPr>
                        <a:t>	</a:t>
                      </a:r>
                      <a:r>
                        <a:rPr sz="1050" spc="60" dirty="0">
                          <a:latin typeface="Trebuchet MS"/>
                          <a:cs typeface="Trebuchet MS"/>
                        </a:rPr>
                        <a:t>Explains</a:t>
                      </a:r>
                      <a:r>
                        <a:rPr sz="1050" spc="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75" dirty="0">
                          <a:latin typeface="Trebuchet MS"/>
                          <a:cs typeface="Trebuchet MS"/>
                        </a:rPr>
                        <a:t>how</a:t>
                      </a:r>
                      <a:r>
                        <a:rPr sz="1050" spc="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75" dirty="0">
                          <a:latin typeface="Trebuchet MS"/>
                          <a:cs typeface="Trebuchet MS"/>
                        </a:rPr>
                        <a:t>sensor </a:t>
                      </a:r>
                      <a:r>
                        <a:rPr sz="1050" spc="55" dirty="0">
                          <a:latin typeface="Trebuchet MS"/>
                          <a:cs typeface="Trebuchet MS"/>
                        </a:rPr>
                        <a:t>data</a:t>
                      </a:r>
                      <a:r>
                        <a:rPr sz="1050" spc="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80" dirty="0"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sz="1050" spc="75" dirty="0">
                          <a:latin typeface="Trebuchet MS"/>
                          <a:cs typeface="Trebuchet MS"/>
                        </a:rPr>
                        <a:t>anomaly </a:t>
                      </a:r>
                      <a:r>
                        <a:rPr sz="1050" spc="10" dirty="0">
                          <a:latin typeface="Trebuchet MS"/>
                          <a:cs typeface="Trebuchet MS"/>
                        </a:rPr>
                        <a:t>detection</a:t>
                      </a:r>
                      <a:r>
                        <a:rPr sz="1050" spc="8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45" dirty="0">
                          <a:latin typeface="Trebuchet MS"/>
                          <a:cs typeface="Trebuchet MS"/>
                        </a:rPr>
                        <a:t>support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  <a:p>
                      <a:pPr marL="3122930">
                        <a:lnSpc>
                          <a:spcPts val="570"/>
                        </a:lnSpc>
                      </a:pPr>
                      <a:r>
                        <a:rPr sz="1050" spc="10" dirty="0">
                          <a:latin typeface="Trebuchet MS"/>
                          <a:cs typeface="Trebuchet MS"/>
                        </a:rPr>
                        <a:t>predictive</a:t>
                      </a:r>
                      <a:r>
                        <a:rPr sz="1050" spc="1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60" dirty="0">
                          <a:latin typeface="Trebuchet MS"/>
                          <a:cs typeface="Trebuchet MS"/>
                        </a:rPr>
                        <a:t>maintenance</a:t>
                      </a:r>
                      <a:r>
                        <a:rPr sz="1050" spc="1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8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050" spc="15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10" dirty="0">
                          <a:latin typeface="Trebuchet MS"/>
                          <a:cs typeface="Trebuchet MS"/>
                        </a:rPr>
                        <a:t>early</a:t>
                      </a:r>
                      <a:r>
                        <a:rPr sz="1050" spc="1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10" dirty="0">
                          <a:latin typeface="Trebuchet MS"/>
                          <a:cs typeface="Trebuchet MS"/>
                        </a:rPr>
                        <a:t>fault</a:t>
                      </a:r>
                      <a:r>
                        <a:rPr sz="1050" spc="1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050" spc="-10" dirty="0">
                          <a:latin typeface="Trebuchet MS"/>
                          <a:cs typeface="Trebuchet MS"/>
                        </a:rPr>
                        <a:t>detection.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42545" marB="0">
                    <a:lnT w="3175">
                      <a:solidFill>
                        <a:srgbClr val="35373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  <a:spcBef>
                          <a:spcPts val="95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050" b="1" u="sng" spc="55" dirty="0">
                          <a:solidFill>
                            <a:srgbClr val="00007F"/>
                          </a:solidFill>
                          <a:uFill>
                            <a:solidFill>
                              <a:srgbClr val="00007F"/>
                            </a:solidFill>
                          </a:uFill>
                          <a:latin typeface="Trebuchet MS"/>
                          <a:cs typeface="Trebuchet MS"/>
                          <a:hlinkClick r:id="rId5"/>
                        </a:rPr>
                        <a:t>link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121285" marB="0">
                    <a:lnT w="3175">
                      <a:solidFill>
                        <a:srgbClr val="35373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175">
                      <a:solidFill>
                        <a:srgbClr val="35373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49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3025" algn="ctr">
                        <a:lnSpc>
                          <a:spcPts val="1120"/>
                        </a:lnSpc>
                      </a:pPr>
                      <a:r>
                        <a:rPr sz="1050" i="1" spc="50" dirty="0">
                          <a:latin typeface="Trebuchet MS"/>
                          <a:cs typeface="Trebuchet MS"/>
                        </a:rPr>
                        <a:t>Maintenance</a:t>
                      </a:r>
                      <a:endParaRPr sz="1050">
                        <a:latin typeface="Trebuchet MS"/>
                        <a:cs typeface="Trebuchet M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328295" y="250825"/>
            <a:ext cx="1252855" cy="809625"/>
          </a:xfrm>
          <a:custGeom>
            <a:avLst/>
            <a:gdLst/>
            <a:ahLst/>
            <a:cxnLst/>
            <a:rect l="l" t="t" r="r" b="b"/>
            <a:pathLst>
              <a:path w="1252855" h="809625">
                <a:moveTo>
                  <a:pt x="0" y="404495"/>
                </a:moveTo>
                <a:lnTo>
                  <a:pt x="9525" y="332104"/>
                </a:lnTo>
                <a:lnTo>
                  <a:pt x="38734" y="263525"/>
                </a:lnTo>
                <a:lnTo>
                  <a:pt x="60325" y="231139"/>
                </a:lnTo>
                <a:lnTo>
                  <a:pt x="85089" y="200025"/>
                </a:lnTo>
                <a:lnTo>
                  <a:pt x="114300" y="170814"/>
                </a:lnTo>
                <a:lnTo>
                  <a:pt x="147320" y="143510"/>
                </a:lnTo>
                <a:lnTo>
                  <a:pt x="183514" y="118110"/>
                </a:lnTo>
                <a:lnTo>
                  <a:pt x="222884" y="94615"/>
                </a:lnTo>
                <a:lnTo>
                  <a:pt x="264795" y="73659"/>
                </a:lnTo>
                <a:lnTo>
                  <a:pt x="309880" y="55245"/>
                </a:lnTo>
                <a:lnTo>
                  <a:pt x="357505" y="38734"/>
                </a:lnTo>
                <a:lnTo>
                  <a:pt x="407670" y="24765"/>
                </a:lnTo>
                <a:lnTo>
                  <a:pt x="459739" y="13970"/>
                </a:lnTo>
                <a:lnTo>
                  <a:pt x="513714" y="6350"/>
                </a:lnTo>
                <a:lnTo>
                  <a:pt x="569595" y="1270"/>
                </a:lnTo>
                <a:lnTo>
                  <a:pt x="626110" y="0"/>
                </a:lnTo>
                <a:lnTo>
                  <a:pt x="683260" y="1270"/>
                </a:lnTo>
                <a:lnTo>
                  <a:pt x="739140" y="6350"/>
                </a:lnTo>
                <a:lnTo>
                  <a:pt x="793115" y="13970"/>
                </a:lnTo>
                <a:lnTo>
                  <a:pt x="845185" y="24765"/>
                </a:lnTo>
                <a:lnTo>
                  <a:pt x="894714" y="38734"/>
                </a:lnTo>
                <a:lnTo>
                  <a:pt x="942975" y="55245"/>
                </a:lnTo>
                <a:lnTo>
                  <a:pt x="988060" y="73659"/>
                </a:lnTo>
                <a:lnTo>
                  <a:pt x="1029969" y="94615"/>
                </a:lnTo>
                <a:lnTo>
                  <a:pt x="1069339" y="118110"/>
                </a:lnTo>
                <a:lnTo>
                  <a:pt x="1105535" y="143510"/>
                </a:lnTo>
                <a:lnTo>
                  <a:pt x="1138555" y="170814"/>
                </a:lnTo>
                <a:lnTo>
                  <a:pt x="1167764" y="200025"/>
                </a:lnTo>
                <a:lnTo>
                  <a:pt x="1192530" y="231139"/>
                </a:lnTo>
                <a:lnTo>
                  <a:pt x="1214120" y="263525"/>
                </a:lnTo>
                <a:lnTo>
                  <a:pt x="1242695" y="332104"/>
                </a:lnTo>
                <a:lnTo>
                  <a:pt x="1252855" y="404495"/>
                </a:lnTo>
                <a:lnTo>
                  <a:pt x="1250314" y="441325"/>
                </a:lnTo>
                <a:lnTo>
                  <a:pt x="1230630" y="512445"/>
                </a:lnTo>
                <a:lnTo>
                  <a:pt x="1192530" y="578485"/>
                </a:lnTo>
                <a:lnTo>
                  <a:pt x="1167764" y="608964"/>
                </a:lnTo>
                <a:lnTo>
                  <a:pt x="1138555" y="638175"/>
                </a:lnTo>
                <a:lnTo>
                  <a:pt x="1105535" y="665479"/>
                </a:lnTo>
                <a:lnTo>
                  <a:pt x="1069339" y="690879"/>
                </a:lnTo>
                <a:lnTo>
                  <a:pt x="1029969" y="714375"/>
                </a:lnTo>
                <a:lnTo>
                  <a:pt x="988060" y="735329"/>
                </a:lnTo>
                <a:lnTo>
                  <a:pt x="942975" y="754379"/>
                </a:lnTo>
                <a:lnTo>
                  <a:pt x="894714" y="770889"/>
                </a:lnTo>
                <a:lnTo>
                  <a:pt x="845185" y="784225"/>
                </a:lnTo>
                <a:lnTo>
                  <a:pt x="793115" y="795020"/>
                </a:lnTo>
                <a:lnTo>
                  <a:pt x="739140" y="803275"/>
                </a:lnTo>
                <a:lnTo>
                  <a:pt x="683260" y="807720"/>
                </a:lnTo>
                <a:lnTo>
                  <a:pt x="626110" y="809625"/>
                </a:lnTo>
                <a:lnTo>
                  <a:pt x="569595" y="807720"/>
                </a:lnTo>
                <a:lnTo>
                  <a:pt x="513714" y="803275"/>
                </a:lnTo>
                <a:lnTo>
                  <a:pt x="459739" y="795020"/>
                </a:lnTo>
                <a:lnTo>
                  <a:pt x="407670" y="784225"/>
                </a:lnTo>
                <a:lnTo>
                  <a:pt x="357505" y="770889"/>
                </a:lnTo>
                <a:lnTo>
                  <a:pt x="309880" y="754379"/>
                </a:lnTo>
                <a:lnTo>
                  <a:pt x="264795" y="735329"/>
                </a:lnTo>
                <a:lnTo>
                  <a:pt x="222884" y="714375"/>
                </a:lnTo>
                <a:lnTo>
                  <a:pt x="183514" y="690879"/>
                </a:lnTo>
                <a:lnTo>
                  <a:pt x="147320" y="665479"/>
                </a:lnTo>
                <a:lnTo>
                  <a:pt x="114300" y="638175"/>
                </a:lnTo>
                <a:lnTo>
                  <a:pt x="85089" y="608964"/>
                </a:lnTo>
                <a:lnTo>
                  <a:pt x="60325" y="578485"/>
                </a:lnTo>
                <a:lnTo>
                  <a:pt x="38734" y="546100"/>
                </a:lnTo>
                <a:lnTo>
                  <a:pt x="9525" y="477520"/>
                </a:lnTo>
                <a:lnTo>
                  <a:pt x="0" y="404495"/>
                </a:lnTo>
                <a:close/>
              </a:path>
            </a:pathLst>
          </a:custGeom>
          <a:ln w="27304">
            <a:solidFill>
              <a:srgbClr val="7F62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xfrm>
            <a:off x="587285" y="483233"/>
            <a:ext cx="7683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spc="65" dirty="0">
                <a:latin typeface="Trebuchet MS"/>
                <a:cs typeface="Trebuchet MS"/>
              </a:rPr>
              <a:t>Future</a:t>
            </a:r>
            <a:endParaRPr sz="1800" dirty="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170" dirty="0"/>
              <a:t>@SIH</a:t>
            </a:r>
            <a:r>
              <a:rPr spc="35" dirty="0"/>
              <a:t> </a:t>
            </a:r>
            <a:r>
              <a:rPr spc="95" dirty="0"/>
              <a:t>Idea</a:t>
            </a:r>
            <a:r>
              <a:rPr spc="55" dirty="0"/>
              <a:t> </a:t>
            </a:r>
            <a:r>
              <a:rPr spc="100" dirty="0"/>
              <a:t>submission-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370"/>
              </a:lnSpc>
            </a:pPr>
            <a:r>
              <a:rPr spc="-50" dirty="0"/>
              <a:t>7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836D321-BFC2-E935-B61C-0B19650412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6006" y="125412"/>
            <a:ext cx="1899284" cy="10604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7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375</Words>
  <Application>Microsoft Office PowerPoint</Application>
  <PresentationFormat>Widescreen</PresentationFormat>
  <Paragraphs>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Segoe UI Symbol</vt:lpstr>
      <vt:lpstr>Times New Roman</vt:lpstr>
      <vt:lpstr>Trebuchet MS</vt:lpstr>
      <vt:lpstr>Office Theme</vt:lpstr>
      <vt:lpstr>SMART INDIA HACKATHON 2025</vt:lpstr>
      <vt:lpstr>AWSense</vt:lpstr>
      <vt:lpstr>PowerPoint Presentation</vt:lpstr>
      <vt:lpstr>Future</vt:lpstr>
      <vt:lpstr>IMPACT AND BENEFITS</vt:lpstr>
      <vt:lpstr>Future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TAIFOOR ANSARI</cp:lastModifiedBy>
  <cp:revision>1</cp:revision>
  <dcterms:created xsi:type="dcterms:W3CDTF">2026-09-02T07:22:51Z</dcterms:created>
  <dcterms:modified xsi:type="dcterms:W3CDTF">2026-09-02T07:42:44Z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2026-09-02T00:00:00Z</vt:filetime>
  </property>
  <property fmtid="{D5CDD505-2E9C-101B-9397-08002B2CF9AE}" pid="4" name="Creator">
    <vt:lpwstr>Writer</vt:lpwstr>
  </property>
  <property fmtid="{D5CDD505-2E9C-101B-9397-08002B2CF9AE}" pid="5" name="Producer">
    <vt:lpwstr>LibreOffice 7.3</vt:lpwstr>
  </property>
  <property fmtid="{D5CDD505-2E9C-101B-9397-08002B2CF9AE}" pid="6" name="LastSaved">
    <vt:filetime>2026-09-02T00:00:00Z</vt:filetime>
  </property>
</Properties>
</file>